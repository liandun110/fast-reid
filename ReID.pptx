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3"/>
  </p:notesMasterIdLst>
  <p:handoutMasterIdLst>
    <p:handoutMasterId r:id="rId35"/>
  </p:handoutMasterIdLst>
  <p:sldIdLst>
    <p:sldId id="265" r:id="rId3"/>
    <p:sldId id="262" r:id="rId4"/>
    <p:sldId id="256" r:id="rId5"/>
    <p:sldId id="257" r:id="rId6"/>
    <p:sldId id="258" r:id="rId7"/>
    <p:sldId id="259" r:id="rId8"/>
    <p:sldId id="261" r:id="rId9"/>
    <p:sldId id="276" r:id="rId10"/>
    <p:sldId id="277" r:id="rId11"/>
    <p:sldId id="279" r:id="rId12"/>
    <p:sldId id="278" r:id="rId13"/>
    <p:sldId id="285" r:id="rId14"/>
    <p:sldId id="284" r:id="rId15"/>
    <p:sldId id="283" r:id="rId16"/>
    <p:sldId id="286" r:id="rId17"/>
    <p:sldId id="288" r:id="rId18"/>
    <p:sldId id="287" r:id="rId19"/>
    <p:sldId id="309" r:id="rId20"/>
    <p:sldId id="298" r:id="rId21"/>
    <p:sldId id="294" r:id="rId22"/>
    <p:sldId id="322" r:id="rId24"/>
    <p:sldId id="295" r:id="rId25"/>
    <p:sldId id="293" r:id="rId26"/>
    <p:sldId id="296" r:id="rId27"/>
    <p:sldId id="297" r:id="rId28"/>
    <p:sldId id="266" r:id="rId29"/>
    <p:sldId id="267" r:id="rId30"/>
    <p:sldId id="260" r:id="rId31"/>
    <p:sldId id="275" r:id="rId32"/>
    <p:sldId id="291" r:id="rId33"/>
    <p:sldId id="292" r:id="rId34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6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B2B2"/>
    <a:srgbClr val="202020"/>
    <a:srgbClr val="323232"/>
    <a:srgbClr val="CC3300"/>
    <a:srgbClr val="CC0000"/>
    <a:srgbClr val="FF3300"/>
    <a:srgbClr val="990000"/>
    <a:srgbClr val="FF8D4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75" d="100"/>
          <a:sy n="75" d="100"/>
        </p:scale>
        <p:origin x="90" y="96"/>
      </p:cViewPr>
      <p:guideLst>
        <p:guide orient="horz" pos="2136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8" Type="http://schemas.openxmlformats.org/officeDocument/2006/relationships/tableStyles" Target="tableStyles.xml"/><Relationship Id="rId37" Type="http://schemas.openxmlformats.org/officeDocument/2006/relationships/viewProps" Target="viewProps.xml"/><Relationship Id="rId36" Type="http://schemas.openxmlformats.org/officeDocument/2006/relationships/presProps" Target="presProps.xml"/><Relationship Id="rId35" Type="http://schemas.openxmlformats.org/officeDocument/2006/relationships/handoutMaster" Target="handoutMasters/handoutMaster1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zh-CN"/>
              <a:t>ReID</a:t>
            </a:r>
            <a:r>
              <a:rPr lang="zh-CN" altLang="en-US"/>
              <a:t>特征易受遮挡、视角变化、姿态变化、衣着变化的影响。</a:t>
            </a:r>
            <a:endParaRPr lang="zh-CN" altLang="en-US"/>
          </a:p>
          <a:p>
            <a:r>
              <a:rPr lang="zh-CN" altLang="en-US"/>
              <a:t>也就是说，仅当</a:t>
            </a:r>
            <a:r>
              <a:rPr lang="zh-CN">
                <a:sym typeface="+mn-ea"/>
              </a:rPr>
              <a:t>不存在遮挡，无视角、姿态、衣着变化时，</a:t>
            </a:r>
            <a:r>
              <a:rPr lang="en-US" altLang="zh-CN">
                <a:sym typeface="+mn-ea"/>
              </a:rPr>
              <a:t>ReID</a:t>
            </a:r>
            <a:r>
              <a:rPr lang="zh-CN" altLang="en-US">
                <a:sym typeface="+mn-ea"/>
              </a:rPr>
              <a:t>特征才是有效的。</a:t>
            </a:r>
            <a:endParaRPr lang="zh-CN" altLang="en-US"/>
          </a:p>
          <a:p>
            <a:r>
              <a:rPr lang="zh-CN" altLang="en-US"/>
              <a:t>但是，当存在这种限定条件时，仅仅通过行人框的</a:t>
            </a:r>
            <a:r>
              <a:rPr lang="en-US" altLang="zh-CN"/>
              <a:t>IoU</a:t>
            </a:r>
            <a:r>
              <a:rPr lang="zh-CN" altLang="en-US"/>
              <a:t>就行了。为什么还需要</a:t>
            </a:r>
            <a:r>
              <a:rPr lang="en-US" altLang="zh-CN"/>
              <a:t>ReID</a:t>
            </a:r>
            <a:r>
              <a:rPr lang="zh-CN" altLang="en-US"/>
              <a:t>呢？</a:t>
            </a:r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3751117"/>
            <a:ext cx="7321550" cy="811357"/>
          </a:xfrm>
        </p:spPr>
        <p:txBody>
          <a:bodyPr anchor="b">
            <a:normAutofit/>
          </a:bodyPr>
          <a:lstStyle>
            <a:lvl1pPr>
              <a:defRPr sz="4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7321550" cy="64755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2400" b="1" i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8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36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8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8.png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12.png"/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16.png"/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20.png"/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24.png"/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5.png"/></Relationships>
</file>

<file path=ppt/slides/_rels/slide9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29.png"/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image" Target="../media/image26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2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4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5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6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7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8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9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9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0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ReID</a:t>
            </a:r>
            <a:r>
              <a:rPr lang="zh-CN" altLang="en-US"/>
              <a:t>问题分析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  <a:p>
            <a:r>
              <a:rPr lang="zh-CN" altLang="en-US"/>
              <a:t>李振邦</a:t>
            </a:r>
            <a:endParaRPr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hongbo_c1s1_similarity_result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1489075"/>
          </a:xfrm>
          <a:prstGeom prst="rect">
            <a:avLst/>
          </a:prstGeom>
        </p:spPr>
      </p:pic>
      <p:pic>
        <p:nvPicPr>
          <p:cNvPr id="5" name="图片 4" descr="shixi_c1s1_similarity_result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86890"/>
            <a:ext cx="12192000" cy="1488440"/>
          </a:xfrm>
          <a:prstGeom prst="rect">
            <a:avLst/>
          </a:prstGeom>
        </p:spPr>
      </p:pic>
      <p:pic>
        <p:nvPicPr>
          <p:cNvPr id="6" name="图片 5" descr="yaojiu_c1s1_similarity_result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573145"/>
            <a:ext cx="12192000" cy="1493520"/>
          </a:xfrm>
          <a:prstGeom prst="rect">
            <a:avLst/>
          </a:prstGeom>
        </p:spPr>
      </p:pic>
      <p:pic>
        <p:nvPicPr>
          <p:cNvPr id="7" name="图片 6" descr="yaojiu_c1s2_similarity_result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5364480"/>
            <a:ext cx="12192000" cy="1493520"/>
          </a:xfrm>
          <a:prstGeom prst="rect">
            <a:avLst/>
          </a:prstGeom>
        </p:spPr>
      </p:pic>
      <p:sp>
        <p:nvSpPr>
          <p:cNvPr id="2" name="矩形 1"/>
          <p:cNvSpPr/>
          <p:nvPr/>
        </p:nvSpPr>
        <p:spPr>
          <a:xfrm>
            <a:off x="0" y="3573145"/>
            <a:ext cx="3104515" cy="1464310"/>
          </a:xfrm>
          <a:prstGeom prst="rect">
            <a:avLst/>
          </a:prstGeom>
          <a:ln w="12700" cap="flat" cmpd="sng" algn="ctr">
            <a:solidFill>
              <a:schemeClr val="accent6"/>
            </a:solidFill>
            <a:prstDash val="dash"/>
            <a:miter lim="800000"/>
          </a:ln>
        </p:spPr>
        <p:style>
          <a:lnRef idx="0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0" y="3216910"/>
            <a:ext cx="75863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olidFill>
                  <a:srgbClr val="FF0000"/>
                </a:solidFill>
                <a:sym typeface="+mn-ea"/>
              </a:rPr>
              <a:t>！与相同身份、不同身份的得分均在</a:t>
            </a:r>
            <a:r>
              <a:rPr lang="en-US" altLang="zh-CN">
                <a:solidFill>
                  <a:srgbClr val="FF0000"/>
                </a:solidFill>
                <a:sym typeface="+mn-ea"/>
              </a:rPr>
              <a:t>0.93</a:t>
            </a:r>
            <a:r>
              <a:rPr lang="zh-CN" altLang="en-US">
                <a:solidFill>
                  <a:srgbClr val="FF0000"/>
                </a:solidFill>
                <a:sym typeface="+mn-ea"/>
              </a:rPr>
              <a:t>附近，</a:t>
            </a:r>
            <a:r>
              <a:rPr lang="en-US" altLang="zh-CN">
                <a:solidFill>
                  <a:srgbClr val="FF0000"/>
                </a:solidFill>
                <a:sym typeface="+mn-ea"/>
              </a:rPr>
              <a:t>ReID</a:t>
            </a:r>
            <a:r>
              <a:rPr lang="zh-CN" altLang="en-US">
                <a:solidFill>
                  <a:srgbClr val="FF0000"/>
                </a:solidFill>
                <a:sym typeface="+mn-ea"/>
              </a:rPr>
              <a:t>相似性没有区分度！</a:t>
            </a:r>
            <a:endParaRPr lang="zh-CN" altLang="en-US">
              <a:solidFill>
                <a:srgbClr val="FF0000"/>
              </a:solidFill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4163060" y="5037455"/>
            <a:ext cx="7910195" cy="4133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sz="140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sym typeface="+mn-ea"/>
              </a:rPr>
              <a:t>提供的样本虽然很有代表性，但是数据有限，无法充分说明问题，因此在更多数据上进行实验验证。</a:t>
            </a:r>
            <a:endParaRPr lang="zh-CN" sz="140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sym typeface="+mn-e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图片 29" descr="0001_c1s1_001051_00_similarity_result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1787525"/>
            <a:ext cx="12192000" cy="1496060"/>
          </a:xfrm>
          <a:prstGeom prst="rect">
            <a:avLst/>
          </a:prstGeom>
        </p:spPr>
      </p:pic>
      <p:pic>
        <p:nvPicPr>
          <p:cNvPr id="31" name="图片 30" descr="0001_c2s1_000301_00_similarity_result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1496060"/>
          </a:xfrm>
          <a:prstGeom prst="rect">
            <a:avLst/>
          </a:prstGeom>
        </p:spPr>
      </p:pic>
      <p:pic>
        <p:nvPicPr>
          <p:cNvPr id="32" name="图片 31" descr="0003_c1s6_015971_00_similarity_result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575050"/>
            <a:ext cx="12192000" cy="1496060"/>
          </a:xfrm>
          <a:prstGeom prst="rect">
            <a:avLst/>
          </a:prstGeom>
        </p:spPr>
      </p:pic>
      <p:pic>
        <p:nvPicPr>
          <p:cNvPr id="33" name="图片 32" descr="0003_c3s3_064744_00_similarity_result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5362575"/>
            <a:ext cx="12192000" cy="1496060"/>
          </a:xfrm>
          <a:prstGeom prst="rect">
            <a:avLst/>
          </a:prstGeom>
        </p:spPr>
      </p:pic>
      <p:sp>
        <p:nvSpPr>
          <p:cNvPr id="36" name="矩形 35"/>
          <p:cNvSpPr/>
          <p:nvPr/>
        </p:nvSpPr>
        <p:spPr>
          <a:xfrm>
            <a:off x="8094980" y="1553210"/>
            <a:ext cx="4097020" cy="1930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zh-CN" altLang="en-US" sz="1200">
                <a:solidFill>
                  <a:srgbClr val="FF0000"/>
                </a:solidFill>
              </a:rPr>
              <a:t>若表观差别不是特别大（数据源不同），则得分均大于</a:t>
            </a:r>
            <a:r>
              <a:rPr lang="en-US" altLang="zh-CN" sz="1200">
                <a:solidFill>
                  <a:srgbClr val="FF0000"/>
                </a:solidFill>
              </a:rPr>
              <a:t>0.9</a:t>
            </a:r>
            <a:endParaRPr lang="en-US" altLang="zh-CN" sz="1200">
              <a:solidFill>
                <a:srgbClr val="FF0000"/>
              </a:solidFill>
            </a:endParaRPr>
          </a:p>
        </p:txBody>
      </p:sp>
      <p:sp>
        <p:nvSpPr>
          <p:cNvPr id="2" name="矩形 1"/>
          <p:cNvSpPr/>
          <p:nvPr/>
        </p:nvSpPr>
        <p:spPr>
          <a:xfrm>
            <a:off x="21590" y="1814195"/>
            <a:ext cx="3104515" cy="1464310"/>
          </a:xfrm>
          <a:prstGeom prst="rect">
            <a:avLst/>
          </a:prstGeom>
          <a:ln w="12700" cap="flat" cmpd="sng" algn="ctr">
            <a:solidFill>
              <a:schemeClr val="accent6"/>
            </a:solidFill>
            <a:prstDash val="dash"/>
            <a:miter lim="800000"/>
          </a:ln>
        </p:spPr>
        <p:style>
          <a:lnRef idx="0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0004_c1s6_016996_00_similarity_result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1496060"/>
          </a:xfrm>
          <a:prstGeom prst="rect">
            <a:avLst/>
          </a:prstGeom>
        </p:spPr>
      </p:pic>
      <p:pic>
        <p:nvPicPr>
          <p:cNvPr id="5" name="图片 4" descr="0004_c2s3_059152_00_similarity_result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87525"/>
            <a:ext cx="12192000" cy="1496060"/>
          </a:xfrm>
          <a:prstGeom prst="rect">
            <a:avLst/>
          </a:prstGeom>
        </p:spPr>
      </p:pic>
      <p:pic>
        <p:nvPicPr>
          <p:cNvPr id="6" name="图片 5" descr="0005_c5s1_000401_00_similarity_result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575050"/>
            <a:ext cx="12192000" cy="1496060"/>
          </a:xfrm>
          <a:prstGeom prst="rect">
            <a:avLst/>
          </a:prstGeom>
        </p:spPr>
      </p:pic>
      <p:pic>
        <p:nvPicPr>
          <p:cNvPr id="7" name="图片 6" descr="0005_c6s1_004576_00_similarity_result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5362575"/>
            <a:ext cx="12192000" cy="1496060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0" y="3216910"/>
            <a:ext cx="75863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olidFill>
                  <a:srgbClr val="FF0000"/>
                </a:solidFill>
                <a:sym typeface="+mn-ea"/>
              </a:rPr>
              <a:t>与相同身份相似度能达到</a:t>
            </a:r>
            <a:r>
              <a:rPr lang="en-US" altLang="zh-CN">
                <a:solidFill>
                  <a:srgbClr val="FF0000"/>
                </a:solidFill>
                <a:sym typeface="+mn-ea"/>
              </a:rPr>
              <a:t>0.96</a:t>
            </a:r>
            <a:r>
              <a:rPr lang="zh-CN" altLang="en-US">
                <a:solidFill>
                  <a:srgbClr val="FF0000"/>
                </a:solidFill>
                <a:sym typeface="+mn-ea"/>
              </a:rPr>
              <a:t>，但与不同身份的得分也高达</a:t>
            </a:r>
            <a:r>
              <a:rPr lang="en-US" altLang="zh-CN">
                <a:solidFill>
                  <a:srgbClr val="FF0000"/>
                </a:solidFill>
                <a:sym typeface="+mn-ea"/>
              </a:rPr>
              <a:t>0.93</a:t>
            </a:r>
            <a:r>
              <a:rPr lang="zh-CN">
                <a:solidFill>
                  <a:srgbClr val="FF0000"/>
                </a:solidFill>
                <a:sym typeface="+mn-ea"/>
              </a:rPr>
              <a:t>。</a:t>
            </a:r>
            <a:endParaRPr lang="zh-CN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0006_c1s6_026921_00_similarity_result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1496060"/>
          </a:xfrm>
          <a:prstGeom prst="rect">
            <a:avLst/>
          </a:prstGeom>
        </p:spPr>
      </p:pic>
      <p:pic>
        <p:nvPicPr>
          <p:cNvPr id="5" name="图片 4" descr="0006_c2s3_069327_00_similarity_result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87525"/>
            <a:ext cx="12192000" cy="1496060"/>
          </a:xfrm>
          <a:prstGeom prst="rect">
            <a:avLst/>
          </a:prstGeom>
        </p:spPr>
      </p:pic>
      <p:pic>
        <p:nvPicPr>
          <p:cNvPr id="6" name="图片 5" descr="0008_c1s1_000376_00_similarity_result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575050"/>
            <a:ext cx="12192000" cy="1496060"/>
          </a:xfrm>
          <a:prstGeom prst="rect">
            <a:avLst/>
          </a:prstGeom>
        </p:spPr>
      </p:pic>
      <p:pic>
        <p:nvPicPr>
          <p:cNvPr id="7" name="图片 6" descr="0008_c5s1_000401_00_similarity_result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5362575"/>
            <a:ext cx="12192000" cy="1496060"/>
          </a:xfrm>
          <a:prstGeom prst="rect">
            <a:avLst/>
          </a:prstGeom>
        </p:spPr>
      </p:pic>
      <p:sp>
        <p:nvSpPr>
          <p:cNvPr id="2" name="矩形 1"/>
          <p:cNvSpPr/>
          <p:nvPr/>
        </p:nvSpPr>
        <p:spPr>
          <a:xfrm>
            <a:off x="0" y="3590925"/>
            <a:ext cx="3104515" cy="1464310"/>
          </a:xfrm>
          <a:prstGeom prst="rect">
            <a:avLst/>
          </a:prstGeom>
          <a:ln w="12700" cap="flat" cmpd="sng" algn="ctr">
            <a:solidFill>
              <a:schemeClr val="accent6"/>
            </a:solidFill>
            <a:prstDash val="dash"/>
            <a:miter lim="800000"/>
          </a:ln>
        </p:spPr>
        <p:style>
          <a:lnRef idx="0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矩形 2"/>
          <p:cNvSpPr/>
          <p:nvPr/>
        </p:nvSpPr>
        <p:spPr>
          <a:xfrm>
            <a:off x="21590" y="5394960"/>
            <a:ext cx="3104515" cy="1464310"/>
          </a:xfrm>
          <a:prstGeom prst="rect">
            <a:avLst/>
          </a:prstGeom>
          <a:ln w="12700" cap="flat" cmpd="sng" algn="ctr">
            <a:solidFill>
              <a:schemeClr val="accent6"/>
            </a:solidFill>
            <a:prstDash val="dash"/>
            <a:miter lim="800000"/>
          </a:ln>
        </p:spPr>
        <p:style>
          <a:lnRef idx="0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0009_c1s1_000376_00_similarity_result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1496060"/>
          </a:xfrm>
          <a:prstGeom prst="rect">
            <a:avLst/>
          </a:prstGeom>
        </p:spPr>
      </p:pic>
      <p:pic>
        <p:nvPicPr>
          <p:cNvPr id="5" name="图片 4" descr="0009_c5s1_000476_00_similarity_result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87525"/>
            <a:ext cx="12192000" cy="1496060"/>
          </a:xfrm>
          <a:prstGeom prst="rect">
            <a:avLst/>
          </a:prstGeom>
        </p:spPr>
      </p:pic>
      <p:pic>
        <p:nvPicPr>
          <p:cNvPr id="6" name="图片 5" descr="0013_c5s1_000426_00_similarity_result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575050"/>
            <a:ext cx="12192000" cy="1496060"/>
          </a:xfrm>
          <a:prstGeom prst="rect">
            <a:avLst/>
          </a:prstGeom>
        </p:spPr>
      </p:pic>
      <p:pic>
        <p:nvPicPr>
          <p:cNvPr id="7" name="图片 6" descr="0013_c6s1_000451_00_similarity_result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5362575"/>
            <a:ext cx="12192000" cy="1496060"/>
          </a:xfrm>
          <a:prstGeom prst="rect">
            <a:avLst/>
          </a:prstGeom>
        </p:spPr>
      </p:pic>
      <p:sp>
        <p:nvSpPr>
          <p:cNvPr id="2" name="矩形 1"/>
          <p:cNvSpPr/>
          <p:nvPr/>
        </p:nvSpPr>
        <p:spPr>
          <a:xfrm>
            <a:off x="34925" y="34925"/>
            <a:ext cx="5380990" cy="1464310"/>
          </a:xfrm>
          <a:prstGeom prst="rect">
            <a:avLst/>
          </a:prstGeom>
          <a:ln w="12700" cap="flat" cmpd="sng" algn="ctr">
            <a:solidFill>
              <a:schemeClr val="accent6"/>
            </a:solidFill>
            <a:prstDash val="dash"/>
            <a:miter lim="800000"/>
          </a:ln>
        </p:spPr>
        <p:style>
          <a:lnRef idx="0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矩形 2"/>
          <p:cNvSpPr/>
          <p:nvPr/>
        </p:nvSpPr>
        <p:spPr>
          <a:xfrm>
            <a:off x="21590" y="1814195"/>
            <a:ext cx="4166235" cy="1464310"/>
          </a:xfrm>
          <a:prstGeom prst="rect">
            <a:avLst/>
          </a:prstGeom>
          <a:ln w="12700" cap="flat" cmpd="sng" algn="ctr">
            <a:solidFill>
              <a:schemeClr val="accent6"/>
            </a:solidFill>
            <a:prstDash val="dash"/>
            <a:miter lim="800000"/>
          </a:ln>
        </p:spPr>
        <p:style>
          <a:lnRef idx="0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矩形 7"/>
          <p:cNvSpPr/>
          <p:nvPr/>
        </p:nvSpPr>
        <p:spPr>
          <a:xfrm>
            <a:off x="21590" y="3590925"/>
            <a:ext cx="4166235" cy="1464310"/>
          </a:xfrm>
          <a:prstGeom prst="rect">
            <a:avLst/>
          </a:prstGeom>
          <a:ln w="12700" cap="flat" cmpd="sng" algn="ctr">
            <a:solidFill>
              <a:schemeClr val="accent6"/>
            </a:solidFill>
            <a:prstDash val="dash"/>
            <a:miter lim="800000"/>
          </a:ln>
        </p:spPr>
        <p:style>
          <a:lnRef idx="0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0014_c1s1_001051_00_similarity_result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1496060"/>
          </a:xfrm>
          <a:prstGeom prst="rect">
            <a:avLst/>
          </a:prstGeom>
        </p:spPr>
      </p:pic>
      <p:pic>
        <p:nvPicPr>
          <p:cNvPr id="5" name="图片 4" descr="0014_c4s1_000351_00_similarity_result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87525"/>
            <a:ext cx="12192000" cy="1496060"/>
          </a:xfrm>
          <a:prstGeom prst="rect">
            <a:avLst/>
          </a:prstGeom>
        </p:spPr>
      </p:pic>
      <p:pic>
        <p:nvPicPr>
          <p:cNvPr id="6" name="图片 5" descr="0015_c1s1_001351_00_similarity_result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575050"/>
            <a:ext cx="12192000" cy="1496060"/>
          </a:xfrm>
          <a:prstGeom prst="rect">
            <a:avLst/>
          </a:prstGeom>
        </p:spPr>
      </p:pic>
      <p:pic>
        <p:nvPicPr>
          <p:cNvPr id="7" name="图片 6" descr="0015_c2s1_000801_00_similarity_result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5362575"/>
            <a:ext cx="12192000" cy="14960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问题分析</a:t>
            </a:r>
            <a:r>
              <a:rPr lang="en-US" altLang="zh-CN"/>
              <a:t>-</a:t>
            </a:r>
            <a:r>
              <a:rPr lang="zh-CN" altLang="en-US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遮挡</a:t>
            </a:r>
            <a:endParaRPr lang="zh-CN" altLang="en-US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1701165" y="4366895"/>
            <a:ext cx="9688830" cy="1363980"/>
          </a:xfrm>
        </p:spPr>
        <p:txBody>
          <a:bodyPr lIns="0" tIns="0" rIns="0" bIns="0">
            <a:noAutofit/>
          </a:bodyPr>
          <a:p>
            <a:r>
              <a:rPr lang="zh-CN" altLang="en-US">
                <a:sym typeface="+mn-ea"/>
              </a:rPr>
              <a:t>待检索行人的画面：全身照，存在下半身腿部特征。</a:t>
            </a:r>
            <a:endParaRPr lang="zh-CN" altLang="en-US"/>
          </a:p>
          <a:p>
            <a:r>
              <a:rPr lang="zh-CN" altLang="en-US">
                <a:sym typeface="+mn-ea"/>
              </a:rPr>
              <a:t>同一身份行人的另一个画面：下半身腿部区域被</a:t>
            </a:r>
            <a:r>
              <a:rPr lang="zh-CN" altLang="en-US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sym typeface="+mn-ea"/>
              </a:rPr>
              <a:t>遮挡</a:t>
            </a:r>
            <a:r>
              <a:rPr lang="zh-CN" altLang="en-US">
                <a:sym typeface="+mn-ea"/>
              </a:rPr>
              <a:t>，只剩上半身区域。</a:t>
            </a:r>
            <a:endParaRPr lang="zh-CN" altLang="en-US">
              <a:sym typeface="+mn-ea"/>
            </a:endParaRPr>
          </a:p>
          <a:p>
            <a:r>
              <a:rPr lang="zh-CN" altLang="en-US">
                <a:sym typeface="+mn-ea"/>
              </a:rPr>
              <a:t>错误匹配到的行人画面：</a:t>
            </a:r>
            <a:r>
              <a:rPr lang="zh-CN" altLang="en-US">
                <a:sym typeface="+mn-ea"/>
              </a:rPr>
              <a:t>下半身腿部区域未被</a:t>
            </a:r>
            <a:r>
              <a:rPr lang="zh-CN" altLang="en-US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sym typeface="+mn-ea"/>
              </a:rPr>
              <a:t>遮挡</a:t>
            </a:r>
            <a:r>
              <a:rPr lang="zh-CN" altLang="en-US">
                <a:sym typeface="+mn-ea"/>
              </a:rPr>
              <a:t>。</a:t>
            </a:r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51555" y="1898650"/>
            <a:ext cx="4707255" cy="227139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问题分析</a:t>
            </a:r>
            <a:r>
              <a:rPr lang="en-US" altLang="zh-CN"/>
              <a:t>-</a:t>
            </a:r>
            <a:r>
              <a:rPr lang="zh-CN" altLang="en-US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视角</a:t>
            </a:r>
            <a:r>
              <a:rPr lang="zh-CN" altLang="en-US"/>
              <a:t>变化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913130" y="2720340"/>
            <a:ext cx="10352405" cy="770255"/>
          </a:xfrm>
        </p:spPr>
        <p:txBody>
          <a:bodyPr/>
          <a:p>
            <a:pPr marL="0" indent="0">
              <a:buNone/>
            </a:pPr>
            <a:r>
              <a:rPr lang="zh-CN" altLang="en-US"/>
              <a:t>待检索的图像为背面</a:t>
            </a:r>
            <a:r>
              <a:rPr lang="zh-CN" altLang="en-US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视角</a:t>
            </a:r>
            <a:r>
              <a:rPr lang="zh-CN" altLang="en-US"/>
              <a:t>。由于行人的拍摄</a:t>
            </a:r>
            <a:r>
              <a:rPr lang="zh-CN" altLang="en-US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视角</a:t>
            </a:r>
            <a:r>
              <a:rPr lang="zh-CN" altLang="en-US"/>
              <a:t>发生了变化，变成了正面</a:t>
            </a:r>
            <a:r>
              <a:rPr lang="zh-CN" altLang="en-US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视角</a:t>
            </a:r>
            <a:r>
              <a:rPr lang="zh-CN" altLang="en-US"/>
              <a:t>，导致错误地匹配到了具有背面</a:t>
            </a:r>
            <a:r>
              <a:rPr lang="zh-CN" altLang="en-US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视角</a:t>
            </a:r>
            <a:r>
              <a:rPr lang="zh-CN" altLang="en-US"/>
              <a:t>的其他行人。</a:t>
            </a:r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3130" y="1185545"/>
            <a:ext cx="3125470" cy="153543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655" y="3971925"/>
            <a:ext cx="3293110" cy="1554480"/>
          </a:xfrm>
          <a:prstGeom prst="rect">
            <a:avLst/>
          </a:prstGeom>
        </p:spPr>
      </p:pic>
      <p:sp>
        <p:nvSpPr>
          <p:cNvPr id="7" name="内容占位符 2"/>
          <p:cNvSpPr>
            <a:spLocks noGrp="1"/>
          </p:cNvSpPr>
          <p:nvPr/>
        </p:nvSpPr>
        <p:spPr>
          <a:xfrm>
            <a:off x="913130" y="5539105"/>
            <a:ext cx="10352405" cy="8235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80604020202020204" pitchFamily="34" charset="0"/>
              <a:buChar char="•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/>
              <a:t>待检索的图像为正面</a:t>
            </a:r>
            <a:r>
              <a:rPr lang="zh-CN" altLang="en-US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视角</a:t>
            </a:r>
            <a:r>
              <a:rPr lang="zh-CN" altLang="en-US"/>
              <a:t>。由于行人的拍摄</a:t>
            </a:r>
            <a:r>
              <a:rPr lang="zh-CN" altLang="en-US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视角</a:t>
            </a:r>
            <a:r>
              <a:rPr lang="zh-CN" altLang="en-US"/>
              <a:t>发生了变化，变成了背面</a:t>
            </a:r>
            <a:r>
              <a:rPr lang="zh-CN" altLang="en-US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视角</a:t>
            </a:r>
            <a:r>
              <a:rPr lang="zh-CN" altLang="en-US"/>
              <a:t>，导致错误地匹配到了具有正面</a:t>
            </a:r>
            <a:r>
              <a:rPr lang="zh-CN" altLang="en-US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视角</a:t>
            </a:r>
            <a:r>
              <a:rPr lang="zh-CN" altLang="en-US"/>
              <a:t>的其他行人。</a:t>
            </a:r>
            <a:endParaRPr lang="zh-CN" altLang="en-US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9285" y="1229360"/>
            <a:ext cx="5657850" cy="1535430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0480" y="3813175"/>
            <a:ext cx="4986655" cy="172593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问题分析</a:t>
            </a:r>
            <a:r>
              <a:rPr lang="en-US" altLang="zh-CN"/>
              <a:t>-</a:t>
            </a:r>
            <a:r>
              <a:rPr lang="zh-CN" altLang="en-US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姿态</a:t>
            </a:r>
            <a:r>
              <a:rPr lang="zh-CN" altLang="en-US"/>
              <a:t>变化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749935" y="3676015"/>
            <a:ext cx="10515600" cy="2055495"/>
          </a:xfrm>
        </p:spPr>
        <p:txBody>
          <a:bodyPr/>
          <a:p>
            <a:r>
              <a:rPr lang="zh-CN" altLang="en-US"/>
              <a:t>待检索行人的画面：</a:t>
            </a:r>
            <a:r>
              <a:rPr lang="zh-CN" altLang="en-US">
                <a:sym typeface="+mn-ea"/>
              </a:rPr>
              <a:t>正面拍摄的驾驶非机动车的</a:t>
            </a:r>
            <a:r>
              <a:rPr lang="zh-CN" altLang="en-US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sym typeface="+mn-ea"/>
              </a:rPr>
              <a:t>姿态</a:t>
            </a:r>
            <a:r>
              <a:rPr lang="zh-CN" altLang="en-US">
                <a:sym typeface="+mn-ea"/>
              </a:rPr>
              <a:t>。</a:t>
            </a:r>
            <a:r>
              <a:rPr lang="zh-CN" altLang="en-US"/>
              <a:t>画面中下部是从正面视角拍摄的非机动车。</a:t>
            </a:r>
            <a:endParaRPr lang="zh-CN" altLang="en-US"/>
          </a:p>
          <a:p>
            <a:r>
              <a:rPr lang="zh-CN" altLang="en-US"/>
              <a:t>同一身份行人的另一个画面：侧</a:t>
            </a:r>
            <a:r>
              <a:rPr lang="zh-CN" altLang="en-US">
                <a:sym typeface="+mn-ea"/>
              </a:rPr>
              <a:t>面拍摄的驾驶非机动车的</a:t>
            </a:r>
            <a:r>
              <a:rPr lang="zh-CN" altLang="en-US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sym typeface="+mn-ea"/>
              </a:rPr>
              <a:t>姿态</a:t>
            </a:r>
            <a:r>
              <a:rPr lang="zh-CN" altLang="en-US">
                <a:sym typeface="+mn-ea"/>
              </a:rPr>
              <a:t>。</a:t>
            </a:r>
            <a:r>
              <a:rPr lang="zh-CN" altLang="en-US"/>
              <a:t>画面中下部是行人的腿部（黑色裤子）。</a:t>
            </a:r>
            <a:endParaRPr lang="zh-CN" altLang="en-US"/>
          </a:p>
          <a:p>
            <a:r>
              <a:rPr lang="zh-CN" altLang="en-US"/>
              <a:t>错误匹配到的行人画面：头部、上半身的姿态与待检索行人较为相似，均为正面拍摄的驾驶非机动车的</a:t>
            </a:r>
            <a:r>
              <a:rPr lang="zh-CN" altLang="en-US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姿态</a:t>
            </a:r>
            <a:r>
              <a:rPr lang="zh-CN" altLang="en-US"/>
              <a:t>。</a:t>
            </a:r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53360" y="1175385"/>
            <a:ext cx="7000875" cy="250063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sym typeface="+mn-ea"/>
              </a:rPr>
              <a:t>问题分析</a:t>
            </a:r>
            <a:r>
              <a:rPr lang="en-US" altLang="zh-CN">
                <a:sym typeface="+mn-ea"/>
              </a:rPr>
              <a:t>-</a:t>
            </a:r>
            <a:r>
              <a:rPr lang="zh-CN" altLang="en-US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sym typeface="+mn-ea"/>
              </a:rPr>
              <a:t>衣着</a:t>
            </a:r>
            <a:r>
              <a:rPr lang="zh-CN" altLang="en-US">
                <a:sym typeface="+mn-ea"/>
              </a:rPr>
              <a:t>变化</a:t>
            </a:r>
            <a:endParaRPr lang="zh-CN" altLang="en-US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2837815" y="4373880"/>
            <a:ext cx="8325485" cy="1803400"/>
          </a:xfrm>
        </p:spPr>
        <p:txBody>
          <a:bodyPr/>
          <a:p>
            <a:r>
              <a:rPr lang="zh-CN" altLang="en-US"/>
              <a:t>由于行人的</a:t>
            </a:r>
            <a:r>
              <a:rPr lang="zh-CN" altLang="en-US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衣着</a:t>
            </a:r>
            <a:r>
              <a:rPr lang="zh-CN" altLang="en-US"/>
              <a:t>发生变化，导致相似性得分较低。</a:t>
            </a:r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14675" y="1094105"/>
            <a:ext cx="5962650" cy="300037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内容占位符 4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1020445" y="1825625"/>
            <a:ext cx="9769475" cy="4351655"/>
          </a:xfrm>
          <a:prstGeom prst="rect">
            <a:avLst/>
          </a:prstGeom>
        </p:spPr>
      </p:pic>
      <p:sp>
        <p:nvSpPr>
          <p:cNvPr id="6" name="标题 1"/>
          <p:cNvSpPr>
            <a:spLocks noGrp="1"/>
          </p:cNvSpPr>
          <p:nvPr/>
        </p:nvSpPr>
        <p:spPr>
          <a:xfrm>
            <a:off x="774700" y="38544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/>
              <a:t>在一段连续的视频中，同一身份的行人，与标准图相比，其</a:t>
            </a:r>
            <a:r>
              <a:rPr lang="en-US" altLang="zh-CN"/>
              <a:t>reid</a:t>
            </a:r>
            <a:r>
              <a:rPr lang="zh-CN" altLang="en-US"/>
              <a:t>得分会经历怎样的变化？</a:t>
            </a:r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3206750" y="6109335"/>
            <a:ext cx="66630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ID=1</a:t>
            </a:r>
            <a:r>
              <a:rPr lang="zh-CN" altLang="en-US"/>
              <a:t>：前</a:t>
            </a:r>
            <a:r>
              <a:rPr lang="en-US" altLang="zh-CN"/>
              <a:t>160</a:t>
            </a:r>
            <a:r>
              <a:rPr lang="zh-CN" altLang="en-US"/>
              <a:t>帧稳定在</a:t>
            </a:r>
            <a:r>
              <a:rPr lang="en-US" altLang="zh-CN"/>
              <a:t>0.98</a:t>
            </a:r>
            <a:r>
              <a:rPr lang="zh-CN" altLang="en-US"/>
              <a:t>。干扰项均未超过</a:t>
            </a:r>
            <a:r>
              <a:rPr lang="en-US" altLang="zh-CN"/>
              <a:t>0.98</a:t>
            </a:r>
            <a:r>
              <a:rPr lang="zh-CN" altLang="en-US"/>
              <a:t>。</a:t>
            </a:r>
            <a:endParaRPr lang="zh-CN" alt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内容占位符 3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981075" y="1466850"/>
            <a:ext cx="10327005" cy="4563745"/>
          </a:xfrm>
          <a:prstGeom prst="rect">
            <a:avLst/>
          </a:prstGeom>
        </p:spPr>
      </p:pic>
      <p:sp>
        <p:nvSpPr>
          <p:cNvPr id="5" name="标题 1"/>
          <p:cNvSpPr>
            <a:spLocks noGrp="1"/>
          </p:cNvSpPr>
          <p:nvPr/>
        </p:nvSpPr>
        <p:spPr>
          <a:xfrm>
            <a:off x="774700" y="38544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/>
              <a:t>在一段连续的视频中，同一身份的行人，与标准图相比，其</a:t>
            </a:r>
            <a:r>
              <a:rPr lang="en-US" altLang="zh-CN"/>
              <a:t>reid</a:t>
            </a:r>
            <a:r>
              <a:rPr lang="zh-CN" altLang="en-US"/>
              <a:t>得分会经历怎样的变化？</a:t>
            </a:r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2708910" y="6109335"/>
            <a:ext cx="716089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ID=2</a:t>
            </a:r>
            <a:r>
              <a:rPr lang="zh-CN" altLang="en-US"/>
              <a:t>：前</a:t>
            </a:r>
            <a:r>
              <a:rPr lang="en-US" altLang="zh-CN"/>
              <a:t>100</a:t>
            </a:r>
            <a:r>
              <a:rPr lang="zh-CN" altLang="en-US"/>
              <a:t>帧稳定在</a:t>
            </a:r>
            <a:r>
              <a:rPr lang="en-US" altLang="zh-CN"/>
              <a:t>0.98</a:t>
            </a:r>
            <a:r>
              <a:rPr lang="zh-CN" altLang="en-US"/>
              <a:t>。干扰项均未超过</a:t>
            </a:r>
            <a:r>
              <a:rPr lang="en-US" altLang="zh-CN"/>
              <a:t>0.98</a:t>
            </a:r>
            <a:r>
              <a:rPr lang="zh-CN" altLang="en-US"/>
              <a:t>（但接近</a:t>
            </a:r>
            <a:r>
              <a:rPr lang="en-US" altLang="zh-CN"/>
              <a:t>0.97</a:t>
            </a:r>
            <a:r>
              <a:rPr lang="zh-CN" altLang="en-US"/>
              <a:t>）。</a:t>
            </a:r>
            <a:endParaRPr lang="zh-CN" alt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在一段连续的视频中，同一身份的行人，与标准图相比，其</a:t>
            </a:r>
            <a:r>
              <a:rPr lang="en-US" altLang="zh-CN"/>
              <a:t>reid</a:t>
            </a:r>
            <a:r>
              <a:rPr lang="zh-CN" altLang="en-US"/>
              <a:t>得分会经历怎样的变化？</a:t>
            </a:r>
            <a:endParaRPr lang="zh-CN" altLang="en-US"/>
          </a:p>
        </p:txBody>
      </p:sp>
      <p:pic>
        <p:nvPicPr>
          <p:cNvPr id="4" name="内容占位符 3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647700" y="1584325"/>
            <a:ext cx="10527030" cy="4709795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2725420" y="6242685"/>
            <a:ext cx="56819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ID=3</a:t>
            </a:r>
            <a:r>
              <a:rPr lang="zh-CN" altLang="en-US"/>
              <a:t>：前</a:t>
            </a:r>
            <a:r>
              <a:rPr lang="en-US" altLang="zh-CN"/>
              <a:t>150</a:t>
            </a:r>
            <a:r>
              <a:rPr lang="zh-CN" altLang="en-US"/>
              <a:t>帧稳定在</a:t>
            </a:r>
            <a:r>
              <a:rPr lang="en-US" altLang="zh-CN"/>
              <a:t>0.98</a:t>
            </a:r>
            <a:r>
              <a:rPr lang="zh-CN" altLang="en-US"/>
              <a:t>。干扰项均未超过</a:t>
            </a:r>
            <a:r>
              <a:rPr lang="en-US" altLang="zh-CN"/>
              <a:t>0.98</a:t>
            </a:r>
            <a:r>
              <a:rPr lang="zh-CN" altLang="en-US"/>
              <a:t>。</a:t>
            </a:r>
            <a:endParaRPr lang="zh-CN" alt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内容占位符 3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1020445" y="1430655"/>
            <a:ext cx="9769475" cy="4351655"/>
          </a:xfrm>
          <a:prstGeom prst="rect">
            <a:avLst/>
          </a:prstGeom>
        </p:spPr>
      </p:pic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在一段连续的视频中，同一身份的行人，与标准图相比，其</a:t>
            </a:r>
            <a:r>
              <a:rPr lang="en-US" altLang="zh-CN"/>
              <a:t>reid</a:t>
            </a:r>
            <a:r>
              <a:rPr lang="zh-CN" altLang="en-US"/>
              <a:t>得分会经历怎样的变化？</a:t>
            </a:r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2725420" y="5949950"/>
            <a:ext cx="56819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ID=4</a:t>
            </a:r>
            <a:r>
              <a:rPr lang="zh-CN" altLang="en-US"/>
              <a:t>：前</a:t>
            </a:r>
            <a:r>
              <a:rPr lang="en-US" altLang="zh-CN"/>
              <a:t>380</a:t>
            </a:r>
            <a:r>
              <a:rPr lang="zh-CN" altLang="en-US"/>
              <a:t>帧稳定在</a:t>
            </a:r>
            <a:r>
              <a:rPr lang="en-US" altLang="zh-CN"/>
              <a:t>0.98</a:t>
            </a:r>
            <a:r>
              <a:rPr lang="zh-CN" altLang="en-US"/>
              <a:t>。干扰项均未超过</a:t>
            </a:r>
            <a:r>
              <a:rPr lang="en-US" altLang="zh-CN"/>
              <a:t>0.98</a:t>
            </a:r>
            <a:r>
              <a:rPr lang="zh-CN" altLang="en-US"/>
              <a:t>。</a:t>
            </a:r>
            <a:endParaRPr lang="zh-CN" alt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内容占位符 3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1082675" y="1532255"/>
            <a:ext cx="9644380" cy="4351655"/>
          </a:xfrm>
          <a:prstGeom prst="rect">
            <a:avLst/>
          </a:prstGeom>
        </p:spPr>
      </p:pic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在一段连续的视频中，同一身份的行人，与标准图相比，其</a:t>
            </a:r>
            <a:r>
              <a:rPr lang="en-US" altLang="zh-CN"/>
              <a:t>reid</a:t>
            </a:r>
            <a:r>
              <a:rPr lang="zh-CN" altLang="en-US"/>
              <a:t>得分会经历怎样的变化？</a:t>
            </a:r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1978660" y="5949950"/>
            <a:ext cx="828738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ID=6</a:t>
            </a:r>
            <a:r>
              <a:rPr lang="zh-CN" altLang="en-US"/>
              <a:t>：前</a:t>
            </a:r>
            <a:r>
              <a:rPr lang="en-US" altLang="zh-CN"/>
              <a:t>240</a:t>
            </a:r>
            <a:r>
              <a:rPr lang="zh-CN" altLang="en-US"/>
              <a:t>帧稳定在</a:t>
            </a:r>
            <a:r>
              <a:rPr lang="en-US" altLang="zh-CN"/>
              <a:t>0.98</a:t>
            </a:r>
            <a:r>
              <a:rPr lang="zh-CN" altLang="en-US"/>
              <a:t>。干扰项均未超过</a:t>
            </a:r>
            <a:r>
              <a:rPr lang="en-US" altLang="zh-CN"/>
              <a:t>0.98</a:t>
            </a:r>
            <a:r>
              <a:rPr lang="zh-CN" altLang="en-US"/>
              <a:t>。</a:t>
            </a:r>
            <a:br>
              <a:rPr lang="zh-CN" altLang="en-US"/>
            </a:br>
            <a:r>
              <a:rPr lang="zh-CN" altLang="en-US"/>
              <a:t>根据后续分析，采用</a:t>
            </a:r>
            <a:r>
              <a:rPr lang="en-US" altLang="zh-CN"/>
              <a:t>0.98</a:t>
            </a:r>
            <a:r>
              <a:rPr lang="zh-CN" altLang="en-US"/>
              <a:t>作为阈值的可靠性为千分之</a:t>
            </a:r>
            <a:r>
              <a:rPr lang="en-US" altLang="zh-CN"/>
              <a:t>998</a:t>
            </a:r>
            <a:r>
              <a:rPr lang="zh-CN" altLang="en-US"/>
              <a:t>，召回率为</a:t>
            </a:r>
            <a:r>
              <a:rPr lang="en-US" altLang="zh-CN"/>
              <a:t>10%</a:t>
            </a:r>
            <a:r>
              <a:rPr lang="zh-CN" altLang="en-US"/>
              <a:t>。</a:t>
            </a:r>
            <a:endParaRPr lang="zh-CN" alt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内容占位符 3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991870" y="1616075"/>
            <a:ext cx="9825990" cy="4351655"/>
          </a:xfrm>
          <a:prstGeom prst="rect">
            <a:avLst/>
          </a:prstGeom>
        </p:spPr>
      </p:pic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在一段连续的视频中，同一身份的行人，与标准图相比，其</a:t>
            </a:r>
            <a:r>
              <a:rPr lang="en-US" altLang="zh-CN"/>
              <a:t>reid</a:t>
            </a:r>
            <a:r>
              <a:rPr lang="zh-CN" altLang="en-US"/>
              <a:t>得分会经历怎样的变化？</a:t>
            </a:r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2725420" y="5949950"/>
            <a:ext cx="568198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ID=5</a:t>
            </a:r>
            <a:r>
              <a:rPr lang="zh-CN" altLang="en-US"/>
              <a:t>：前</a:t>
            </a:r>
            <a:r>
              <a:rPr lang="en-US" altLang="zh-CN"/>
              <a:t>10</a:t>
            </a:r>
            <a:r>
              <a:rPr lang="zh-CN" altLang="en-US"/>
              <a:t>帧稳定在</a:t>
            </a:r>
            <a:r>
              <a:rPr lang="en-US" altLang="zh-CN"/>
              <a:t>0.98</a:t>
            </a:r>
            <a:r>
              <a:rPr lang="zh-CN" altLang="en-US"/>
              <a:t>。干扰项均未超过</a:t>
            </a:r>
            <a:r>
              <a:rPr lang="en-US" altLang="zh-CN"/>
              <a:t>0.98</a:t>
            </a:r>
            <a:r>
              <a:rPr lang="zh-CN" altLang="en-US"/>
              <a:t>。表观剧烈变化。</a:t>
            </a:r>
            <a:endParaRPr lang="zh-CN" alt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29665" y="2213610"/>
            <a:ext cx="9932670" cy="730250"/>
          </a:xfrm>
        </p:spPr>
        <p:txBody>
          <a:bodyPr>
            <a:noAutofit/>
          </a:bodyPr>
          <a:p>
            <a:r>
              <a:rPr lang="zh-CN" altLang="en-US" sz="4400"/>
              <a:t>仅利用</a:t>
            </a:r>
            <a:r>
              <a:rPr lang="en-US" altLang="zh-CN" sz="4400">
                <a:solidFill>
                  <a:srgbClr val="FF0000"/>
                </a:solidFill>
              </a:rPr>
              <a:t>AI</a:t>
            </a:r>
            <a:r>
              <a:rPr lang="zh-CN" altLang="en-US" sz="4400"/>
              <a:t>实现全自动追踪是不现实的</a:t>
            </a:r>
            <a:endParaRPr lang="zh-CN" altLang="en-US" sz="4400"/>
          </a:p>
        </p:txBody>
      </p:sp>
      <p:sp>
        <p:nvSpPr>
          <p:cNvPr id="5" name="文本框 4"/>
          <p:cNvSpPr txBox="1"/>
          <p:nvPr/>
        </p:nvSpPr>
        <p:spPr>
          <a:xfrm>
            <a:off x="2884805" y="3827145"/>
            <a:ext cx="6422390" cy="152971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lnSpc>
                <a:spcPct val="130000"/>
              </a:lnSpc>
              <a:buFont typeface="Arial" panose="02080604020202020204" pitchFamily="34" charset="0"/>
              <a:buChar char="•"/>
            </a:pPr>
            <a:r>
              <a:rPr lang="zh-CN" altLang="en-US"/>
              <a:t>必须采用</a:t>
            </a:r>
            <a:r>
              <a:rPr lang="en-US" altLang="zh-CN">
                <a:solidFill>
                  <a:srgbClr val="FF0000"/>
                </a:solidFill>
              </a:rPr>
              <a:t>AI</a:t>
            </a:r>
            <a:r>
              <a:rPr lang="en-US" altLang="zh-CN"/>
              <a:t>+</a:t>
            </a:r>
            <a:r>
              <a:rPr lang="zh-CN" altLang="en-US">
                <a:solidFill>
                  <a:srgbClr val="FF0000"/>
                </a:solidFill>
              </a:rPr>
              <a:t>人工</a:t>
            </a:r>
            <a:r>
              <a:rPr lang="zh-CN" altLang="en-US"/>
              <a:t>交互的模式。</a:t>
            </a:r>
            <a:endParaRPr lang="zh-CN" altLang="en-US"/>
          </a:p>
          <a:p>
            <a:pPr marL="285750" indent="-285750">
              <a:lnSpc>
                <a:spcPct val="130000"/>
              </a:lnSpc>
              <a:buFont typeface="Arial" panose="02080604020202020204" pitchFamily="34" charset="0"/>
              <a:buChar char="•"/>
            </a:pPr>
            <a:r>
              <a:rPr lang="zh-CN" altLang="en-US"/>
              <a:t>如何交互？</a:t>
            </a:r>
            <a:endParaRPr lang="zh-CN" altLang="en-US"/>
          </a:p>
          <a:p>
            <a:pPr marL="285750" indent="-285750">
              <a:lnSpc>
                <a:spcPct val="130000"/>
              </a:lnSpc>
              <a:buFont typeface="Arial" panose="02080604020202020204" pitchFamily="34" charset="0"/>
              <a:buChar char="•"/>
            </a:pPr>
            <a:r>
              <a:rPr lang="zh-CN" altLang="en-US"/>
              <a:t>想要做好</a:t>
            </a:r>
            <a:r>
              <a:rPr lang="en-US" altLang="zh-CN">
                <a:solidFill>
                  <a:srgbClr val="FF0000"/>
                </a:solidFill>
              </a:rPr>
              <a:t>AI</a:t>
            </a:r>
            <a:r>
              <a:rPr lang="zh-CN" altLang="en-US"/>
              <a:t>跨镜追踪，必须想清楚目前实战中是如何进行</a:t>
            </a:r>
            <a:r>
              <a:rPr lang="zh-CN" altLang="en-US">
                <a:solidFill>
                  <a:srgbClr val="FF0000"/>
                </a:solidFill>
              </a:rPr>
              <a:t>人工</a:t>
            </a:r>
            <a:r>
              <a:rPr lang="zh-CN" altLang="en-US"/>
              <a:t>跨境追踪的。</a:t>
            </a:r>
            <a:endParaRPr lang="zh-CN" alt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365" cy="6346190"/>
          </a:xfrm>
          <a:prstGeom prst="rect">
            <a:avLst/>
          </a:prstGeom>
        </p:spPr>
      </p:pic>
      <p:sp>
        <p:nvSpPr>
          <p:cNvPr id="5" name="椭圆 4"/>
          <p:cNvSpPr/>
          <p:nvPr/>
        </p:nvSpPr>
        <p:spPr>
          <a:xfrm>
            <a:off x="8449945" y="2655570"/>
            <a:ext cx="1215390" cy="1215390"/>
          </a:xfrm>
          <a:prstGeom prst="ellipse">
            <a:avLst/>
          </a:prstGeom>
          <a:solidFill>
            <a:schemeClr val="accent1">
              <a:alpha val="57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椭圆 5"/>
          <p:cNvSpPr/>
          <p:nvPr/>
        </p:nvSpPr>
        <p:spPr>
          <a:xfrm>
            <a:off x="1181100" y="3302000"/>
            <a:ext cx="1215390" cy="1215390"/>
          </a:xfrm>
          <a:prstGeom prst="ellipse">
            <a:avLst/>
          </a:prstGeom>
          <a:solidFill>
            <a:schemeClr val="accent1">
              <a:alpha val="57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椭圆 6"/>
          <p:cNvSpPr/>
          <p:nvPr/>
        </p:nvSpPr>
        <p:spPr>
          <a:xfrm>
            <a:off x="3341370" y="3075305"/>
            <a:ext cx="1215390" cy="1215390"/>
          </a:xfrm>
          <a:prstGeom prst="ellipse">
            <a:avLst/>
          </a:prstGeom>
          <a:solidFill>
            <a:schemeClr val="accent1">
              <a:alpha val="57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椭圆 7"/>
          <p:cNvSpPr/>
          <p:nvPr/>
        </p:nvSpPr>
        <p:spPr>
          <a:xfrm>
            <a:off x="5669915" y="2936240"/>
            <a:ext cx="1215390" cy="1215390"/>
          </a:xfrm>
          <a:prstGeom prst="ellipse">
            <a:avLst/>
          </a:prstGeom>
          <a:solidFill>
            <a:schemeClr val="accent1">
              <a:alpha val="57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文本框 18"/>
          <p:cNvSpPr txBox="1"/>
          <p:nvPr/>
        </p:nvSpPr>
        <p:spPr>
          <a:xfrm>
            <a:off x="8794750" y="3016250"/>
            <a:ext cx="525145" cy="583565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 algn="l"/>
            <a:r>
              <a:rPr lang="zh-CN" altLang="en-US" sz="3200" b="0" i="0">
                <a:latin typeface="Inter"/>
                <a:ea typeface="Inter"/>
              </a:rPr>
              <a:t>🚶</a:t>
            </a:r>
            <a:endParaRPr lang="zh-CN" altLang="en-US" sz="3200" b="0" i="0">
              <a:latin typeface="Inter"/>
              <a:ea typeface="Inter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6014720" y="3287395"/>
            <a:ext cx="525145" cy="583565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 algn="l"/>
            <a:r>
              <a:rPr lang="zh-CN" altLang="en-US" sz="3200" b="0" i="0">
                <a:latin typeface="Inter"/>
                <a:ea typeface="Inter"/>
              </a:rPr>
              <a:t>🚶</a:t>
            </a:r>
            <a:endParaRPr lang="zh-CN" altLang="en-US" sz="3200" b="0" i="0">
              <a:latin typeface="Inter"/>
              <a:ea typeface="Inter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3663950" y="3391535"/>
            <a:ext cx="525145" cy="583565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 algn="l"/>
            <a:r>
              <a:rPr lang="zh-CN" altLang="en-US" sz="3200" b="0" i="0">
                <a:latin typeface="Inter"/>
                <a:ea typeface="Inter"/>
              </a:rPr>
              <a:t>🚶</a:t>
            </a:r>
            <a:endParaRPr lang="zh-CN" altLang="en-US" sz="3200" b="0" i="0">
              <a:latin typeface="Inter"/>
              <a:ea typeface="Inter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1526540" y="3618230"/>
            <a:ext cx="525145" cy="583565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 algn="l"/>
            <a:r>
              <a:rPr lang="zh-CN" altLang="en-US" sz="3200" b="0" i="0">
                <a:latin typeface="Inter"/>
                <a:ea typeface="Inter"/>
              </a:rPr>
              <a:t>🚶</a:t>
            </a:r>
            <a:endParaRPr lang="zh-CN" altLang="en-US" sz="3200" b="0" i="0">
              <a:latin typeface="Inter"/>
              <a:ea typeface="Inter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365" cy="6346190"/>
          </a:xfrm>
          <a:prstGeom prst="rect">
            <a:avLst/>
          </a:prstGeom>
        </p:spPr>
      </p:pic>
      <p:sp>
        <p:nvSpPr>
          <p:cNvPr id="5" name="椭圆 4"/>
          <p:cNvSpPr/>
          <p:nvPr/>
        </p:nvSpPr>
        <p:spPr>
          <a:xfrm>
            <a:off x="8449945" y="2655570"/>
            <a:ext cx="1215390" cy="1215390"/>
          </a:xfrm>
          <a:prstGeom prst="ellipse">
            <a:avLst/>
          </a:prstGeom>
          <a:solidFill>
            <a:schemeClr val="accent1">
              <a:alpha val="57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椭圆 8"/>
          <p:cNvSpPr/>
          <p:nvPr/>
        </p:nvSpPr>
        <p:spPr>
          <a:xfrm>
            <a:off x="8345170" y="641985"/>
            <a:ext cx="1215390" cy="1215390"/>
          </a:xfrm>
          <a:prstGeom prst="ellipse">
            <a:avLst/>
          </a:prstGeom>
          <a:solidFill>
            <a:schemeClr val="accent1">
              <a:lumMod val="20000"/>
              <a:lumOff val="80000"/>
              <a:alpha val="60000"/>
            </a:schemeClr>
          </a:solidFill>
          <a:ln>
            <a:solidFill>
              <a:schemeClr val="accent1">
                <a:lumMod val="50000"/>
              </a:schemeClr>
            </a:solidFill>
            <a:prstDash val="sysDot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椭圆 10"/>
          <p:cNvSpPr/>
          <p:nvPr/>
        </p:nvSpPr>
        <p:spPr>
          <a:xfrm>
            <a:off x="8472170" y="4669155"/>
            <a:ext cx="1215390" cy="1215390"/>
          </a:xfrm>
          <a:prstGeom prst="ellipse">
            <a:avLst/>
          </a:prstGeom>
          <a:solidFill>
            <a:schemeClr val="accent1">
              <a:lumMod val="20000"/>
              <a:lumOff val="80000"/>
              <a:alpha val="60000"/>
            </a:schemeClr>
          </a:solidFill>
          <a:ln>
            <a:solidFill>
              <a:schemeClr val="accent1">
                <a:lumMod val="50000"/>
              </a:schemeClr>
            </a:solidFill>
            <a:prstDash val="sysDot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椭圆 11"/>
          <p:cNvSpPr/>
          <p:nvPr/>
        </p:nvSpPr>
        <p:spPr>
          <a:xfrm>
            <a:off x="5847080" y="2872105"/>
            <a:ext cx="1215390" cy="1215390"/>
          </a:xfrm>
          <a:prstGeom prst="ellipse">
            <a:avLst/>
          </a:prstGeom>
          <a:solidFill>
            <a:schemeClr val="accent1">
              <a:lumMod val="20000"/>
              <a:lumOff val="80000"/>
              <a:alpha val="60000"/>
            </a:schemeClr>
          </a:solidFill>
          <a:ln>
            <a:solidFill>
              <a:schemeClr val="accent1">
                <a:lumMod val="50000"/>
              </a:schemeClr>
            </a:solidFill>
            <a:prstDash val="sysDot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文本框 18"/>
          <p:cNvSpPr txBox="1"/>
          <p:nvPr/>
        </p:nvSpPr>
        <p:spPr>
          <a:xfrm>
            <a:off x="8794750" y="3016250"/>
            <a:ext cx="525145" cy="583565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 algn="l"/>
            <a:r>
              <a:rPr lang="zh-CN" altLang="en-US" sz="3200" b="0" i="0">
                <a:latin typeface="Inter"/>
                <a:ea typeface="Inter"/>
              </a:rPr>
              <a:t>🚶</a:t>
            </a:r>
            <a:endParaRPr lang="zh-CN" altLang="en-US" sz="3200" b="0" i="0">
              <a:latin typeface="Inter"/>
              <a:ea typeface="Inter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8794750" y="1035685"/>
            <a:ext cx="2698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？</a:t>
            </a:r>
            <a:endParaRPr lang="zh-CN" altLang="en-US"/>
          </a:p>
        </p:txBody>
      </p:sp>
      <p:sp>
        <p:nvSpPr>
          <p:cNvPr id="21" name="文本框 20"/>
          <p:cNvSpPr txBox="1"/>
          <p:nvPr/>
        </p:nvSpPr>
        <p:spPr>
          <a:xfrm>
            <a:off x="6319520" y="3295650"/>
            <a:ext cx="2698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？</a:t>
            </a:r>
            <a:endParaRPr lang="zh-CN" altLang="en-US"/>
          </a:p>
        </p:txBody>
      </p:sp>
      <p:sp>
        <p:nvSpPr>
          <p:cNvPr id="23" name="文本框 22"/>
          <p:cNvSpPr txBox="1"/>
          <p:nvPr/>
        </p:nvSpPr>
        <p:spPr>
          <a:xfrm>
            <a:off x="8921750" y="5122545"/>
            <a:ext cx="2698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？</a:t>
            </a:r>
            <a:endParaRPr lang="zh-CN" altLang="en-US"/>
          </a:p>
        </p:txBody>
      </p:sp>
      <p:sp>
        <p:nvSpPr>
          <p:cNvPr id="25" name="文本框 24"/>
          <p:cNvSpPr txBox="1"/>
          <p:nvPr/>
        </p:nvSpPr>
        <p:spPr>
          <a:xfrm>
            <a:off x="8650605" y="2383155"/>
            <a:ext cx="8115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相机</a:t>
            </a:r>
            <a:r>
              <a:rPr lang="en-US" altLang="zh-CN"/>
              <a:t>1</a:t>
            </a:r>
            <a:endParaRPr lang="en-US" altLang="zh-CN"/>
          </a:p>
        </p:txBody>
      </p:sp>
      <p:sp>
        <p:nvSpPr>
          <p:cNvPr id="26" name="文本框 25"/>
          <p:cNvSpPr txBox="1"/>
          <p:nvPr/>
        </p:nvSpPr>
        <p:spPr>
          <a:xfrm>
            <a:off x="8547100" y="422275"/>
            <a:ext cx="8115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相机</a:t>
            </a:r>
            <a:r>
              <a:rPr lang="en-US" altLang="zh-CN"/>
              <a:t>2</a:t>
            </a:r>
            <a:endParaRPr lang="en-US" altLang="zh-CN"/>
          </a:p>
        </p:txBody>
      </p:sp>
      <p:sp>
        <p:nvSpPr>
          <p:cNvPr id="27" name="文本框 26"/>
          <p:cNvSpPr txBox="1"/>
          <p:nvPr/>
        </p:nvSpPr>
        <p:spPr>
          <a:xfrm>
            <a:off x="6048375" y="2510155"/>
            <a:ext cx="8115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相机</a:t>
            </a:r>
            <a:r>
              <a:rPr lang="en-US" altLang="zh-CN"/>
              <a:t>3</a:t>
            </a:r>
            <a:endParaRPr lang="en-US" altLang="zh-CN"/>
          </a:p>
        </p:txBody>
      </p:sp>
      <p:sp>
        <p:nvSpPr>
          <p:cNvPr id="28" name="文本框 27"/>
          <p:cNvSpPr txBox="1"/>
          <p:nvPr/>
        </p:nvSpPr>
        <p:spPr>
          <a:xfrm>
            <a:off x="8681085" y="4354195"/>
            <a:ext cx="8115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相机</a:t>
            </a:r>
            <a:r>
              <a:rPr lang="en-US" altLang="zh-CN"/>
              <a:t>4</a:t>
            </a:r>
            <a:endParaRPr lang="en-US" altLang="zh-CN"/>
          </a:p>
        </p:txBody>
      </p:sp>
      <p:sp>
        <p:nvSpPr>
          <p:cNvPr id="29" name="文本框 28"/>
          <p:cNvSpPr txBox="1"/>
          <p:nvPr/>
        </p:nvSpPr>
        <p:spPr>
          <a:xfrm>
            <a:off x="19050" y="6351270"/>
            <a:ext cx="1217231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/>
              <a:t>给出相机</a:t>
            </a:r>
            <a:r>
              <a:rPr lang="en-US" altLang="zh-CN" sz="1400"/>
              <a:t>1</a:t>
            </a:r>
            <a:r>
              <a:rPr lang="zh-CN" altLang="en-US" sz="1400"/>
              <a:t>中的一个重点人</a:t>
            </a:r>
            <a:r>
              <a:rPr lang="en-US" altLang="zh-CN" sz="1400"/>
              <a:t>,</a:t>
            </a:r>
            <a:r>
              <a:rPr lang="zh-CN" altLang="en-US" sz="1400"/>
              <a:t>在相邻相机</a:t>
            </a:r>
            <a:r>
              <a:rPr lang="en-US" altLang="zh-CN" sz="1400"/>
              <a:t>(</a:t>
            </a:r>
            <a:r>
              <a:rPr lang="zh-CN" altLang="en-US" sz="1400"/>
              <a:t>相机</a:t>
            </a:r>
            <a:r>
              <a:rPr lang="en-US" altLang="zh-CN" sz="1400"/>
              <a:t>2~4)</a:t>
            </a:r>
            <a:r>
              <a:rPr lang="zh-CN" altLang="en-US" sz="1400"/>
              <a:t>提供</a:t>
            </a:r>
            <a:r>
              <a:rPr lang="en-US" altLang="zh-CN" sz="1400"/>
              <a:t>reid</a:t>
            </a:r>
            <a:r>
              <a:rPr lang="zh-CN" altLang="en-US" sz="1400"/>
              <a:t>得分最高的候选行人</a:t>
            </a:r>
            <a:r>
              <a:rPr lang="en-US" altLang="zh-CN" sz="1400"/>
              <a:t>.</a:t>
            </a:r>
            <a:r>
              <a:rPr lang="zh-CN" altLang="en-US" sz="1400"/>
              <a:t>由于</a:t>
            </a:r>
            <a:r>
              <a:rPr lang="en-US" altLang="zh-CN" sz="1400"/>
              <a:t>reid</a:t>
            </a:r>
            <a:r>
              <a:rPr lang="zh-CN" altLang="en-US" sz="1400"/>
              <a:t>得分的不稳定性</a:t>
            </a:r>
            <a:r>
              <a:rPr lang="en-US" altLang="zh-CN" sz="1400"/>
              <a:t>,</a:t>
            </a:r>
            <a:r>
              <a:rPr lang="zh-CN" altLang="en-US" sz="1400"/>
              <a:t>必须要人工选择正确的候选行人</a:t>
            </a:r>
            <a:r>
              <a:rPr lang="en-US" altLang="zh-CN" sz="1400"/>
              <a:t>.-&gt;</a:t>
            </a:r>
            <a:r>
              <a:rPr lang="zh-CN" altLang="en-US" sz="1400"/>
              <a:t>真的能够提高人工效率吗？人工效率肯定很慢。自己找一遍试试就知道了。</a:t>
            </a:r>
            <a:endParaRPr lang="zh-CN" altLang="en-US" sz="14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数据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zh-CN" altLang="en-US"/>
              <a:t>必须要在真实环境中的数据上进行实验：</a:t>
            </a:r>
            <a:r>
              <a:rPr lang="en-US" altLang="zh-CN"/>
              <a:t>AB</a:t>
            </a:r>
            <a:r>
              <a:rPr lang="zh-CN" altLang="en-US"/>
              <a:t>两个摄像机，时间均为</a:t>
            </a:r>
            <a:r>
              <a:rPr lang="en-US" altLang="zh-CN"/>
              <a:t>08:00~08:01</a:t>
            </a:r>
            <a:endParaRPr lang="en-US" altLang="zh-CN"/>
          </a:p>
          <a:p>
            <a:r>
              <a:rPr lang="zh-CN" altLang="en-US"/>
              <a:t>什么是真实环境中的数据？园区中（比如一所里）的两个监控相机（得有一定距离）的视频。</a:t>
            </a:r>
            <a:endParaRPr lang="zh-CN" altLang="en-US"/>
          </a:p>
          <a:p>
            <a:r>
              <a:rPr lang="zh-CN" altLang="en-US"/>
              <a:t>公开数据集由于隐私问题全都下架了。</a:t>
            </a:r>
            <a:endParaRPr lang="zh-CN" alt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分析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zh-CN" altLang="en-US"/>
              <a:t>前面的实验分析表明，</a:t>
            </a:r>
            <a:r>
              <a:rPr lang="en-US" altLang="zh-CN"/>
              <a:t>reid</a:t>
            </a:r>
            <a:r>
              <a:rPr lang="zh-CN" altLang="en-US"/>
              <a:t>特征较为脆弱，同一身份特征容易变，且容易受不同身份干扰。那么，</a:t>
            </a:r>
            <a:r>
              <a:rPr lang="en-US" altLang="zh-CN"/>
              <a:t>reid</a:t>
            </a:r>
            <a:r>
              <a:rPr lang="zh-CN" altLang="en-US"/>
              <a:t>特征到底有什么用？</a:t>
            </a:r>
            <a:endParaRPr lang="zh-CN" altLang="en-US"/>
          </a:p>
          <a:p>
            <a:r>
              <a:rPr lang="zh-CN" altLang="en-US"/>
              <a:t>需要回顾我们的出发点和目标。</a:t>
            </a:r>
            <a:endParaRPr lang="zh-CN" alt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5" name="文本框 4"/>
          <p:cNvSpPr txBox="1"/>
          <p:nvPr/>
        </p:nvSpPr>
        <p:spPr>
          <a:xfrm>
            <a:off x="0" y="5814695"/>
            <a:ext cx="12191365" cy="10433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>
              <a:lnSpc>
                <a:spcPct val="110000"/>
              </a:lnSpc>
            </a:pPr>
            <a:r>
              <a:rPr lang="zh-CN" altLang="en-US" sz="1000">
                <a:sym typeface="+mn-ea"/>
              </a:rPr>
              <a:t>重点关注典型样本：</a:t>
            </a:r>
            <a:r>
              <a:rPr lang="en-US" altLang="zh-CN" sz="1000">
                <a:sym typeface="+mn-ea"/>
              </a:rPr>
              <a:t>ID=089</a:t>
            </a:r>
            <a:r>
              <a:rPr lang="zh-CN" altLang="en-US" sz="1000">
                <a:sym typeface="+mn-ea"/>
              </a:rPr>
              <a:t>。存在复杂遮挡情况。采用检测框而非</a:t>
            </a:r>
            <a:r>
              <a:rPr lang="en-US" altLang="zh-CN" sz="1000">
                <a:sym typeface="+mn-ea"/>
              </a:rPr>
              <a:t>GT</a:t>
            </a:r>
            <a:r>
              <a:rPr lang="zh-CN" altLang="en-US" sz="1000">
                <a:sym typeface="+mn-ea"/>
              </a:rPr>
              <a:t>框。</a:t>
            </a:r>
            <a:endParaRPr lang="zh-CN" altLang="en-US" sz="1000"/>
          </a:p>
          <a:p>
            <a:pPr algn="l">
              <a:lnSpc>
                <a:spcPct val="130000"/>
              </a:lnSpc>
            </a:pPr>
            <a:r>
              <a:rPr lang="zh-CN" altLang="en-US" sz="1000"/>
              <a:t>若仅关注</a:t>
            </a:r>
            <a:r>
              <a:rPr lang="en-US" altLang="zh-CN" sz="1000"/>
              <a:t>GT</a:t>
            </a:r>
            <a:r>
              <a:rPr lang="zh-CN" altLang="en-US" sz="1000"/>
              <a:t>框，我们可能会希望对每一帧（包括严重遮挡的）进行关联。但实际上，严重遮挡的行人根本不会有检测框。所以说，那些严重遮挡的情况，反而不需要我们操心去处理。</a:t>
            </a:r>
            <a:br>
              <a:rPr lang="zh-CN" altLang="en-US" sz="1000"/>
            </a:br>
            <a:r>
              <a:rPr lang="zh-CN" altLang="en-US" sz="1000"/>
              <a:t>在一段视频中，我们需要获得每一帧的轨迹吗？是不是在一个镜头中定位一次就够了？</a:t>
            </a:r>
            <a:br>
              <a:rPr lang="zh-CN" altLang="en-US" sz="1000"/>
            </a:br>
            <a:r>
              <a:rPr lang="zh-CN" altLang="en-US" sz="1000"/>
              <a:t>在实战中，到底需要怎样的追踪？假设</a:t>
            </a:r>
            <a:r>
              <a:rPr lang="en-US" altLang="zh-CN" sz="1000"/>
              <a:t>089</a:t>
            </a:r>
            <a:r>
              <a:rPr lang="zh-CN" altLang="en-US" sz="1000"/>
              <a:t>是重点人，我们需要知道的是，</a:t>
            </a:r>
            <a:r>
              <a:rPr lang="en-US" altLang="zh-CN" sz="1000"/>
              <a:t>ta</a:t>
            </a:r>
            <a:r>
              <a:rPr lang="zh-CN" altLang="en-US" sz="1000"/>
              <a:t>在</a:t>
            </a:r>
            <a:r>
              <a:rPr lang="en-US" altLang="zh-CN" sz="1000"/>
              <a:t>08</a:t>
            </a:r>
            <a:r>
              <a:rPr lang="zh-CN" altLang="en-US" sz="1000"/>
              <a:t>：</a:t>
            </a:r>
            <a:r>
              <a:rPr lang="en-US" altLang="zh-CN" sz="1000"/>
              <a:t>45</a:t>
            </a:r>
            <a:r>
              <a:rPr lang="zh-CN" altLang="en-US" sz="1000"/>
              <a:t>出现在首体南路</a:t>
            </a:r>
            <a:r>
              <a:rPr lang="en-US" altLang="zh-CN" sz="1000"/>
              <a:t>1</a:t>
            </a:r>
            <a:r>
              <a:rPr lang="zh-CN" altLang="en-US" sz="1000"/>
              <a:t>号院东门附近，</a:t>
            </a:r>
            <a:r>
              <a:rPr lang="en-US" altLang="zh-CN" sz="1000"/>
              <a:t>08:50</a:t>
            </a:r>
            <a:r>
              <a:rPr lang="zh-CN" altLang="en-US" sz="1000"/>
              <a:t>出现在主语国际附近，</a:t>
            </a:r>
            <a:r>
              <a:rPr lang="en-US" altLang="zh-CN" sz="1000"/>
              <a:t>08</a:t>
            </a:r>
            <a:r>
              <a:rPr lang="zh-CN" altLang="en-US" sz="1000"/>
              <a:t>：</a:t>
            </a:r>
            <a:r>
              <a:rPr lang="en-US" altLang="zh-CN" sz="1000"/>
              <a:t>52</a:t>
            </a:r>
            <a:r>
              <a:rPr lang="zh-CN" altLang="en-US" sz="1000"/>
              <a:t>出现在白石桥南地铁站</a:t>
            </a:r>
            <a:r>
              <a:rPr lang="en-US" altLang="zh-CN" sz="1000"/>
              <a:t>A</a:t>
            </a:r>
            <a:r>
              <a:rPr lang="zh-CN" altLang="en-US" sz="1000"/>
              <a:t>口附近，</a:t>
            </a:r>
            <a:r>
              <a:rPr lang="en-US" altLang="zh-CN" sz="1000"/>
              <a:t>09:00</a:t>
            </a:r>
            <a:r>
              <a:rPr lang="zh-CN" altLang="en-US" sz="1000"/>
              <a:t>出现在首体南路与车公庄西路交叉口</a:t>
            </a:r>
            <a:r>
              <a:rPr lang="en-US" altLang="zh-CN" sz="1000"/>
              <a:t>……</a:t>
            </a:r>
            <a:r>
              <a:rPr lang="zh-CN" altLang="en-US" sz="1000"/>
              <a:t>因此，我们需要的，不是在一段视频中获得每帧轨迹。而是在不同镜头中对同一身份进行检索。所以，无法利用边框重叠来确认行人轨迹。只能利用</a:t>
            </a:r>
            <a:r>
              <a:rPr lang="en-US" altLang="zh-CN" sz="1000"/>
              <a:t>ReID</a:t>
            </a:r>
            <a:r>
              <a:rPr lang="zh-CN" altLang="en-US" sz="1000"/>
              <a:t>。</a:t>
            </a:r>
            <a:endParaRPr lang="zh-CN" altLang="en-US" sz="1000"/>
          </a:p>
        </p:txBody>
      </p:sp>
      <p:sp>
        <p:nvSpPr>
          <p:cNvPr id="3" name="内容占位符 2"/>
          <p:cNvSpPr/>
          <p:nvPr>
            <p:ph idx="1"/>
          </p:nvPr>
        </p:nvSpPr>
        <p:spPr/>
        <p:txBody>
          <a:bodyPr/>
          <a:p>
            <a:r>
              <a:rPr lang="zh-CN" altLang="en-US"/>
              <a:t>此处原为视频。</a:t>
            </a:r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6" name="内容占位符 5"/>
          <p:cNvSpPr/>
          <p:nvPr>
            <p:ph idx="1"/>
          </p:nvPr>
        </p:nvSpPr>
        <p:spPr/>
        <p:txBody>
          <a:bodyPr/>
          <a:p>
            <a:r>
              <a:rPr lang="zh-CN" altLang="en-US"/>
              <a:t>正确的目标</a:t>
            </a:r>
            <a:endParaRPr lang="zh-CN" altLang="en-US"/>
          </a:p>
          <a:p>
            <a:pPr lvl="1"/>
            <a:r>
              <a:rPr lang="zh-CN" altLang="en-US"/>
              <a:t>提高人工效率</a:t>
            </a:r>
            <a:r>
              <a:rPr lang="en-US" altLang="zh-CN"/>
              <a:t>90%</a:t>
            </a:r>
            <a:endParaRPr lang="en-US" altLang="zh-CN"/>
          </a:p>
          <a:p>
            <a:pPr lvl="1"/>
            <a:r>
              <a:rPr lang="zh-CN" altLang="en-US"/>
              <a:t>提高人工效率</a:t>
            </a:r>
            <a:r>
              <a:rPr lang="en-US" altLang="zh-CN"/>
              <a:t>50%</a:t>
            </a:r>
            <a:endParaRPr lang="en-US" altLang="zh-CN"/>
          </a:p>
          <a:p>
            <a:pPr lvl="1"/>
            <a:r>
              <a:rPr lang="zh-CN" altLang="en-US"/>
              <a:t>提高人工效率</a:t>
            </a:r>
            <a:r>
              <a:rPr lang="en-US" altLang="zh-CN"/>
              <a:t>20%</a:t>
            </a:r>
            <a:endParaRPr lang="en-US" altLang="zh-CN"/>
          </a:p>
          <a:p>
            <a:pPr lvl="1"/>
            <a:r>
              <a:rPr lang="zh-CN" altLang="en-US"/>
              <a:t>人工效率到底是多少？如果答案是不知道，说明根本没有考虑实际用途、实际场景。</a:t>
            </a:r>
            <a:endParaRPr lang="en-US" altLang="zh-CN"/>
          </a:p>
          <a:p>
            <a:pPr lvl="0"/>
            <a:r>
              <a:rPr lang="zh-CN" altLang="en-US"/>
              <a:t>错误的目标：沿用做学术的老套路、刷数据集</a:t>
            </a:r>
            <a:endParaRPr lang="zh-CN" altLang="en-US"/>
          </a:p>
          <a:p>
            <a:pPr lvl="1"/>
            <a:r>
              <a:rPr lang="en-US" altLang="zh-CN"/>
              <a:t>AP=0.58</a:t>
            </a:r>
            <a:endParaRPr lang="en-US" altLang="zh-CN"/>
          </a:p>
          <a:p>
            <a:pPr lvl="1"/>
            <a:r>
              <a:rPr lang="en-US" altLang="zh-CN"/>
              <a:t>IoU=0.98</a:t>
            </a:r>
            <a:endParaRPr lang="en-US" altLang="zh-CN"/>
          </a:p>
          <a:p>
            <a:pPr lvl="1"/>
            <a:r>
              <a:rPr lang="zh-CN" altLang="en-US"/>
              <a:t>召回率</a:t>
            </a:r>
            <a:r>
              <a:rPr lang="en-US" altLang="zh-CN"/>
              <a:t>=0.77</a:t>
            </a:r>
            <a:endParaRPr lang="en-US" altLang="zh-CN"/>
          </a:p>
          <a:p>
            <a:pPr lvl="0"/>
            <a:r>
              <a:rPr lang="zh-CN" altLang="en-US"/>
              <a:t>为什么？</a:t>
            </a:r>
            <a:endParaRPr lang="zh-CN" altLang="en-US"/>
          </a:p>
          <a:p>
            <a:pPr lvl="1"/>
            <a:r>
              <a:rPr lang="zh-CN" altLang="en-US"/>
              <a:t>实战中必须有人工交互干预，必须保证</a:t>
            </a:r>
            <a:r>
              <a:rPr lang="en-US" altLang="zh-CN"/>
              <a:t>100%</a:t>
            </a:r>
            <a:r>
              <a:rPr lang="zh-CN" altLang="en-US"/>
              <a:t>正确。</a:t>
            </a:r>
            <a:endParaRPr lang="zh-CN" altLang="en-US"/>
          </a:p>
          <a:p>
            <a:pPr lvl="1"/>
            <a:r>
              <a:rPr lang="zh-CN" altLang="en-US"/>
              <a:t>做学术，无人工干预，输入视频输出最终结果。</a:t>
            </a:r>
            <a:endParaRPr lang="zh-CN" altLang="en-US"/>
          </a:p>
          <a:p>
            <a:pPr lvl="1"/>
            <a:r>
              <a:rPr lang="zh-CN" altLang="en-US"/>
              <a:t>学术是实战的中间环节。不过也是必不可少的。</a:t>
            </a:r>
            <a:endParaRPr lang="zh-CN" alt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必须有人工干预交互这一步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zh-CN" altLang="en-US"/>
              <a:t>累积误差</a:t>
            </a:r>
            <a:endParaRPr lang="zh-CN" alt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ReID</a:t>
            </a:r>
            <a:r>
              <a:rPr lang="zh-CN" altLang="en-US"/>
              <a:t>问题设置</a:t>
            </a:r>
            <a:endParaRPr lang="zh-CN" altLang="en-US"/>
          </a:p>
        </p:txBody>
      </p:sp>
      <p:sp>
        <p:nvSpPr>
          <p:cNvPr id="5" name="矩形 4"/>
          <p:cNvSpPr/>
          <p:nvPr/>
        </p:nvSpPr>
        <p:spPr>
          <a:xfrm>
            <a:off x="5723890" y="2378710"/>
            <a:ext cx="3738880" cy="285369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zh-CN" altLang="en-US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待检索的行人图像</a:t>
            </a:r>
            <a:br>
              <a:rPr lang="zh-CN" altLang="en-US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</a:br>
            <a:r>
              <a:rPr lang="en-US" altLang="zh-CN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ID</a:t>
            </a:r>
            <a:r>
              <a:rPr lang="zh-CN" altLang="en-US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：</a:t>
            </a:r>
            <a:r>
              <a:rPr lang="en-US" altLang="zh-CN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0004</a:t>
            </a:r>
            <a:endParaRPr lang="en-US" altLang="zh-CN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15055" y="1722120"/>
            <a:ext cx="1868805" cy="379412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ReID</a:t>
            </a:r>
            <a:r>
              <a:rPr lang="zh-CN" altLang="en-US"/>
              <a:t>问题设置</a:t>
            </a:r>
            <a:endParaRPr lang="zh-CN" altLang="en-US"/>
          </a:p>
        </p:txBody>
      </p:sp>
      <p:sp>
        <p:nvSpPr>
          <p:cNvPr id="5" name="矩形 4"/>
          <p:cNvSpPr/>
          <p:nvPr/>
        </p:nvSpPr>
        <p:spPr>
          <a:xfrm>
            <a:off x="0" y="2100580"/>
            <a:ext cx="775970" cy="121666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zh-CN" altLang="en-US" sz="140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待检索的行人图像</a:t>
            </a:r>
            <a:br>
              <a:rPr lang="zh-CN" altLang="en-US" sz="140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</a:br>
            <a:r>
              <a:rPr lang="en-US" altLang="zh-CN" sz="140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ID</a:t>
            </a:r>
            <a:r>
              <a:rPr lang="zh-CN" altLang="en-US" sz="140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：</a:t>
            </a:r>
            <a:r>
              <a:rPr lang="en-US" altLang="zh-CN" sz="140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0004</a:t>
            </a:r>
            <a:endParaRPr lang="en-US" altLang="zh-CN" sz="140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pic>
        <p:nvPicPr>
          <p:cNvPr id="4" name="图片 3" descr="0004_c1s6_016996_00_similarity_result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3317240"/>
            <a:ext cx="12192000" cy="1496060"/>
          </a:xfrm>
          <a:prstGeom prst="rect">
            <a:avLst/>
          </a:prstGeom>
        </p:spPr>
      </p:pic>
      <p:sp>
        <p:nvSpPr>
          <p:cNvPr id="3" name="右大括号 2"/>
          <p:cNvSpPr/>
          <p:nvPr/>
        </p:nvSpPr>
        <p:spPr>
          <a:xfrm rot="16200000">
            <a:off x="6504305" y="-2414905"/>
            <a:ext cx="335280" cy="10850245"/>
          </a:xfrm>
          <a:prstGeom prst="rightBrace">
            <a:avLst>
              <a:gd name="adj1" fmla="val 71969"/>
              <a:gd name="adj2" fmla="val 50000"/>
            </a:avLst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矩形 6"/>
          <p:cNvSpPr/>
          <p:nvPr/>
        </p:nvSpPr>
        <p:spPr>
          <a:xfrm>
            <a:off x="3754120" y="2428875"/>
            <a:ext cx="5835015" cy="4203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zh-CN" altLang="en-US" sz="1400"/>
              <a:t>检索到的若干行人</a:t>
            </a:r>
            <a:endParaRPr lang="zh-CN" altLang="en-US" sz="1400"/>
          </a:p>
        </p:txBody>
      </p:sp>
      <p:sp>
        <p:nvSpPr>
          <p:cNvPr id="9" name="矩形 8"/>
          <p:cNvSpPr/>
          <p:nvPr/>
        </p:nvSpPr>
        <p:spPr>
          <a:xfrm>
            <a:off x="1128395" y="4775200"/>
            <a:ext cx="732155" cy="2679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zh-CN" altLang="en-US" sz="1000">
                <a:solidFill>
                  <a:srgbClr val="FF0000"/>
                </a:solidFill>
              </a:rPr>
              <a:t>检索成功</a:t>
            </a:r>
            <a:endParaRPr lang="zh-CN" altLang="en-US" sz="1000">
              <a:solidFill>
                <a:srgbClr val="FF0000"/>
              </a:solidFill>
            </a:endParaRPr>
          </a:p>
        </p:txBody>
      </p:sp>
      <p:sp>
        <p:nvSpPr>
          <p:cNvPr id="10" name="下箭头 9"/>
          <p:cNvSpPr/>
          <p:nvPr/>
        </p:nvSpPr>
        <p:spPr>
          <a:xfrm>
            <a:off x="5488305" y="6304280"/>
            <a:ext cx="1144270" cy="553085"/>
          </a:xfrm>
          <a:prstGeom prst="down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200"/>
              <a:t>更多示例</a:t>
            </a:r>
            <a:endParaRPr lang="zh-CN" altLang="en-US" sz="120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结论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zh-CN" altLang="en-US"/>
              <a:t>不论最终结果是否准确（即是否找到对应</a:t>
            </a:r>
            <a:r>
              <a:rPr lang="en-US" altLang="zh-CN"/>
              <a:t>ID</a:t>
            </a:r>
            <a:r>
              <a:rPr lang="zh-CN" altLang="en-US"/>
              <a:t>），仅从表观上讲，当得分大于</a:t>
            </a:r>
            <a:r>
              <a:rPr lang="en-US" altLang="zh-CN"/>
              <a:t>0.95</a:t>
            </a:r>
            <a:r>
              <a:rPr lang="zh-CN" altLang="en-US"/>
              <a:t>时，表观确实是非常相似的。</a:t>
            </a:r>
            <a:endParaRPr lang="zh-CN" altLang="en-US"/>
          </a:p>
          <a:p>
            <a:r>
              <a:rPr lang="zh-CN" altLang="en-US"/>
              <a:t>仅依赖表观相似性不能确定人的身份（无论设何种阈值，总能找出反例）。在给出每个行人子图的同时，还需要给出：</a:t>
            </a:r>
            <a:endParaRPr lang="zh-CN" altLang="en-US"/>
          </a:p>
          <a:p>
            <a:pPr lvl="1"/>
            <a:r>
              <a:rPr lang="zh-CN" altLang="en-US"/>
              <a:t>该画面的时间戳</a:t>
            </a:r>
            <a:endParaRPr lang="zh-CN" altLang="en-US"/>
          </a:p>
          <a:p>
            <a:pPr lvl="1"/>
            <a:r>
              <a:rPr lang="zh-CN" altLang="en-US"/>
              <a:t>该画面对应的相机</a:t>
            </a:r>
            <a:r>
              <a:rPr lang="en-US" altLang="zh-CN"/>
              <a:t>ID</a:t>
            </a:r>
            <a:endParaRPr lang="en-US" altLang="zh-CN"/>
          </a:p>
          <a:p>
            <a:pPr lvl="1"/>
            <a:r>
              <a:rPr lang="zh-CN" altLang="en-US"/>
              <a:t>该行人边框的归一化坐标（Center-XYWH 格式）：参考</a:t>
            </a:r>
            <a:r>
              <a:rPr lang="en-US" altLang="zh-CN"/>
              <a:t>YOLO</a:t>
            </a:r>
            <a:r>
              <a:rPr lang="zh-CN" altLang="en-US"/>
              <a:t>规范</a:t>
            </a:r>
            <a:endParaRPr lang="zh-CN" alt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MOT16_c4s001_similarity_result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1972310"/>
            <a:ext cx="12192000" cy="1510665"/>
          </a:xfrm>
          <a:prstGeom prst="rect">
            <a:avLst/>
          </a:prstGeom>
        </p:spPr>
      </p:pic>
      <p:sp>
        <p:nvSpPr>
          <p:cNvPr id="7" name="矩形 6"/>
          <p:cNvSpPr/>
          <p:nvPr/>
        </p:nvSpPr>
        <p:spPr>
          <a:xfrm>
            <a:off x="2297430" y="5394325"/>
            <a:ext cx="5835015" cy="4203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zh-CN" altLang="en-US" sz="1400"/>
              <a:t>如果具有时空连续性，同一人的表观非常相似，</a:t>
            </a:r>
            <a:r>
              <a:rPr lang="en-US" altLang="zh-CN" sz="1400"/>
              <a:t>ReID</a:t>
            </a:r>
            <a:r>
              <a:rPr lang="zh-CN" altLang="en-US" sz="1400"/>
              <a:t>得分非常高。</a:t>
            </a:r>
            <a:endParaRPr lang="zh-CN" altLang="en-US" sz="1400"/>
          </a:p>
        </p:txBody>
      </p:sp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ReID</a:t>
            </a:r>
            <a:r>
              <a:rPr lang="zh-CN" altLang="en-US"/>
              <a:t>发挥作用的限定条件</a:t>
            </a:r>
            <a:endParaRPr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2044065" y="3763645"/>
            <a:ext cx="8129905" cy="4203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zh-CN" sz="2000"/>
              <a:t>当不存在遮挡，无视角、姿态、衣着变化时，表观将非常相似，</a:t>
            </a:r>
            <a:r>
              <a:rPr lang="en-US" altLang="zh-CN" sz="2000"/>
              <a:t>ReID</a:t>
            </a:r>
            <a:r>
              <a:rPr lang="zh-CN" altLang="en-US" sz="2000"/>
              <a:t>得分非常高（</a:t>
            </a:r>
            <a:r>
              <a:rPr lang="en-US" altLang="zh-CN" sz="2000"/>
              <a:t>0.98</a:t>
            </a:r>
            <a:r>
              <a:rPr lang="zh-CN" altLang="en-US" sz="2000"/>
              <a:t>）。</a:t>
            </a:r>
            <a:endParaRPr lang="zh-CN" altLang="en-US" sz="20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将阈值设为</a:t>
            </a:r>
            <a:r>
              <a:rPr lang="en-US" altLang="zh-CN"/>
              <a:t>0.98</a:t>
            </a:r>
            <a:r>
              <a:rPr lang="zh-CN" altLang="en-US"/>
              <a:t>，能达到多高的准确率？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lnSpcReduction="20000"/>
          </a:bodyPr>
          <a:p>
            <a:r>
              <a:rPr lang="zh-CN" altLang="en-US"/>
              <a:t>python demo/analyze_pairwise_similarity.py </a:t>
            </a:r>
            <a:endParaRPr lang="zh-CN" altLang="en-US"/>
          </a:p>
          <a:p>
            <a:r>
              <a:rPr lang="zh-CN" altLang="en-US"/>
              <a:t>🔄 正在加载特征...</a:t>
            </a:r>
            <a:endParaRPr lang="zh-CN" altLang="en-US"/>
          </a:p>
          <a:p>
            <a:r>
              <a:rPr lang="zh-CN" altLang="en-US"/>
              <a:t>✅ 共加载 47577 条特征</a:t>
            </a:r>
            <a:endParaRPr lang="zh-CN" altLang="en-US"/>
          </a:p>
          <a:p>
            <a:r>
              <a:rPr lang="zh-CN" altLang="en-US"/>
              <a:t>⚡ 使用 GPU 加速计算相似度矩阵...</a:t>
            </a:r>
            <a:endParaRPr lang="zh-CN" altLang="en-US"/>
          </a:p>
          <a:p>
            <a:r>
              <a:rPr lang="zh-CN" altLang="en-US"/>
              <a:t>✅ 相似度矩阵计算完成</a:t>
            </a:r>
            <a:endParaRPr lang="zh-CN" altLang="en-US"/>
          </a:p>
          <a:p>
            <a:r>
              <a:rPr lang="zh-CN" altLang="en-US"/>
              <a:t>🔍 构建身份匹配矩阵...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📊 统计结果 (阈值 &gt; 0.98)：</a:t>
            </a:r>
            <a:endParaRPr lang="zh-CN" altLang="en-US"/>
          </a:p>
          <a:p>
            <a:r>
              <a:rPr lang="zh-CN" altLang="en-US"/>
              <a:t>1. 相似度高 且 同一身份 ：4287856</a:t>
            </a:r>
            <a:endParaRPr lang="zh-CN" altLang="en-US"/>
          </a:p>
          <a:p>
            <a:r>
              <a:rPr lang="zh-CN" altLang="en-US"/>
              <a:t>2. 相似度高 且 不同身份 ：8894</a:t>
            </a:r>
            <a:endParaRPr lang="zh-CN" altLang="en-US"/>
          </a:p>
          <a:p>
            <a:r>
              <a:rPr lang="zh-CN" altLang="en-US"/>
              <a:t>3. 相似度低 且 同一身份 ：33990748</a:t>
            </a:r>
            <a:endParaRPr lang="zh-CN" altLang="en-US"/>
          </a:p>
          <a:p>
            <a:r>
              <a:rPr lang="zh-CN" altLang="en-US"/>
              <a:t>4. 相似度低 且 不同身份 ：2225235854</a:t>
            </a:r>
            <a:endParaRPr lang="zh-CN" altLang="en-US"/>
          </a:p>
        </p:txBody>
      </p:sp>
      <p:sp>
        <p:nvSpPr>
          <p:cNvPr id="4" name="文本框 3"/>
          <p:cNvSpPr txBox="1"/>
          <p:nvPr/>
        </p:nvSpPr>
        <p:spPr>
          <a:xfrm>
            <a:off x="8610600" y="3065780"/>
            <a:ext cx="40640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一阶召回率：约</a:t>
            </a:r>
            <a:r>
              <a:rPr lang="en-US" altLang="zh-CN"/>
              <a:t>10%</a:t>
            </a:r>
            <a:br>
              <a:rPr lang="en-US" altLang="zh-CN"/>
            </a:br>
            <a:r>
              <a:rPr lang="zh-CN" altLang="en-US"/>
              <a:t>误报率：千分之</a:t>
            </a:r>
            <a:r>
              <a:rPr lang="en-US" altLang="zh-CN"/>
              <a:t>2</a:t>
            </a:r>
            <a:endParaRPr lang="en-US" altLang="zh-CN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间接传递相似规则：</a:t>
            </a:r>
            <a:r>
              <a:rPr lang="en-US" altLang="zh-CN"/>
              <a:t>AB</a:t>
            </a:r>
            <a:r>
              <a:rPr lang="zh-CN" altLang="en-US"/>
              <a:t>相似、</a:t>
            </a:r>
            <a:r>
              <a:rPr lang="en-US" altLang="zh-CN"/>
              <a:t>BC</a:t>
            </a:r>
            <a:r>
              <a:rPr lang="zh-CN" altLang="en-US"/>
              <a:t>相似，即使</a:t>
            </a:r>
            <a:r>
              <a:rPr lang="en-US" altLang="zh-CN"/>
              <a:t>AC</a:t>
            </a:r>
            <a:r>
              <a:rPr lang="zh-CN" altLang="en-US"/>
              <a:t>不相似，也将</a:t>
            </a:r>
            <a:r>
              <a:rPr lang="en-US" altLang="zh-CN"/>
              <a:t>AC</a:t>
            </a:r>
            <a:r>
              <a:rPr lang="zh-CN" altLang="en-US"/>
              <a:t>视作同一身份。</a:t>
            </a:r>
            <a:endParaRPr lang="zh-CN" altLang="en-US"/>
          </a:p>
        </p:txBody>
      </p:sp>
      <p:graphicFrame>
        <p:nvGraphicFramePr>
          <p:cNvPr id="4" name="内容占位符 3"/>
          <p:cNvGraphicFramePr/>
          <p:nvPr>
            <p:ph idx="1"/>
          </p:nvPr>
        </p:nvGraphicFramePr>
        <p:xfrm>
          <a:off x="1321435" y="1371600"/>
          <a:ext cx="4997450" cy="5059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32908"/>
                <a:gridCol w="832909"/>
                <a:gridCol w="832908"/>
                <a:gridCol w="832908"/>
                <a:gridCol w="832909"/>
                <a:gridCol w="832908"/>
              </a:tblGrid>
              <a:tr h="843280">
                <a:tc>
                  <a:txBody>
                    <a:bodyPr/>
                    <a:p>
                      <a:pPr algn="ctr" fontAlgn="ctr">
                        <a:buNone/>
                      </a:pP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/>
                        <a:t>A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/>
                        <a:t>B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/>
                        <a:t>C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/>
                        <a:t>D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/>
                        <a:t>E</a:t>
                      </a:r>
                      <a:endParaRPr lang="en-US" altLang="zh-CN"/>
                    </a:p>
                  </a:txBody>
                  <a:tcPr anchor="ctr" anchorCtr="0"/>
                </a:tc>
              </a:tr>
              <a:tr h="843280"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/>
                        <a:t>A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/>
                        <a:t>1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0.98</a:t>
                      </a:r>
                      <a:endParaRPr lang="zh-CN" altLang="en-US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/>
                        <a:t>0.91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0.91</a:t>
                      </a:r>
                      <a:endParaRPr lang="zh-CN" altLang="en-US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0.91</a:t>
                      </a:r>
                      <a:endParaRPr lang="zh-CN" altLang="en-US"/>
                    </a:p>
                  </a:txBody>
                  <a:tcPr anchor="ctr" anchorCtr="0"/>
                </a:tc>
              </a:tr>
              <a:tr h="843280"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/>
                        <a:t>B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0.98</a:t>
                      </a:r>
                      <a:endParaRPr lang="zh-CN" altLang="en-US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/>
                        <a:t>1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0.98</a:t>
                      </a:r>
                      <a:endParaRPr lang="zh-CN" altLang="en-US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0.91</a:t>
                      </a:r>
                      <a:endParaRPr lang="zh-CN" altLang="en-US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0.91</a:t>
                      </a:r>
                      <a:endParaRPr lang="zh-CN" altLang="en-US"/>
                    </a:p>
                  </a:txBody>
                  <a:tcPr anchor="ctr" anchorCtr="0"/>
                </a:tc>
              </a:tr>
              <a:tr h="843280"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/>
                        <a:t>C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/>
                        <a:t>0.91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0.98</a:t>
                      </a:r>
                      <a:endParaRPr lang="zh-CN" altLang="en-US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/>
                        <a:t>1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0.91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0.91</a:t>
                      </a:r>
                      <a:endParaRPr lang="zh-CN" altLang="en-US"/>
                    </a:p>
                  </a:txBody>
                  <a:tcPr anchor="ctr" anchorCtr="0"/>
                </a:tc>
              </a:tr>
              <a:tr h="843280"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/>
                        <a:t>D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/>
                        <a:t>0.91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0.91</a:t>
                      </a:r>
                      <a:endParaRPr lang="zh-CN" altLang="en-US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0.91</a:t>
                      </a:r>
                      <a:endParaRPr lang="zh-CN" altLang="en-US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/>
                        <a:t>1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0.98</a:t>
                      </a:r>
                      <a:endParaRPr lang="zh-CN" altLang="en-US"/>
                    </a:p>
                  </a:txBody>
                  <a:tcPr anchor="ctr" anchorCtr="0"/>
                </a:tc>
              </a:tr>
              <a:tr h="843280"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/>
                        <a:t>E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0.91</a:t>
                      </a:r>
                      <a:endParaRPr lang="zh-CN" altLang="en-US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0.91</a:t>
                      </a:r>
                      <a:endParaRPr lang="zh-CN" altLang="en-US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0.91</a:t>
                      </a:r>
                      <a:endParaRPr lang="zh-CN" altLang="en-US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0.98</a:t>
                      </a:r>
                      <a:endParaRPr lang="zh-CN" altLang="en-US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/>
                        <a:t>1</a:t>
                      </a:r>
                      <a:endParaRPr lang="en-US" altLang="zh-CN"/>
                    </a:p>
                  </a:txBody>
                  <a:tcPr anchor="ctr" anchorCtr="0"/>
                </a:tc>
              </a:tr>
            </a:tbl>
          </a:graphicData>
        </a:graphic>
      </p:graphicFrame>
      <p:graphicFrame>
        <p:nvGraphicFramePr>
          <p:cNvPr id="5" name="表格 4"/>
          <p:cNvGraphicFramePr/>
          <p:nvPr/>
        </p:nvGraphicFramePr>
        <p:xfrm>
          <a:off x="6962140" y="1371600"/>
          <a:ext cx="4997450" cy="5059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32908"/>
                <a:gridCol w="832909"/>
                <a:gridCol w="832908"/>
                <a:gridCol w="832908"/>
                <a:gridCol w="832909"/>
                <a:gridCol w="832908"/>
              </a:tblGrid>
              <a:tr h="843280">
                <a:tc>
                  <a:txBody>
                    <a:bodyPr/>
                    <a:p>
                      <a:pPr algn="ctr" fontAlgn="ctr">
                        <a:buNone/>
                      </a:pP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/>
                        <a:t>A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/>
                        <a:t>B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/>
                        <a:t>C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/>
                        <a:t>D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/>
                        <a:t>E</a:t>
                      </a:r>
                      <a:endParaRPr lang="en-US" altLang="zh-CN"/>
                    </a:p>
                  </a:txBody>
                  <a:tcPr anchor="ctr" anchorCtr="0"/>
                </a:tc>
              </a:tr>
              <a:tr h="843280"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/>
                        <a:t>A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/>
                        <a:t>1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0.98</a:t>
                      </a:r>
                      <a:endParaRPr lang="zh-CN" altLang="en-US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/>
                        <a:t>0.91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0.91</a:t>
                      </a:r>
                      <a:endParaRPr lang="zh-CN" altLang="en-US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0.91</a:t>
                      </a:r>
                      <a:endParaRPr lang="zh-CN" altLang="en-US"/>
                    </a:p>
                  </a:txBody>
                  <a:tcPr anchor="ctr" anchorCtr="0"/>
                </a:tc>
              </a:tr>
              <a:tr h="843280"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/>
                        <a:t>B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0.98</a:t>
                      </a:r>
                      <a:endParaRPr lang="zh-CN" altLang="en-US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/>
                        <a:t>1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0.98</a:t>
                      </a:r>
                      <a:endParaRPr lang="zh-CN" altLang="en-US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0.91</a:t>
                      </a:r>
                      <a:endParaRPr lang="zh-CN" altLang="en-US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0.91</a:t>
                      </a:r>
                      <a:endParaRPr lang="zh-CN" altLang="en-US"/>
                    </a:p>
                  </a:txBody>
                  <a:tcPr anchor="ctr" anchorCtr="0"/>
                </a:tc>
              </a:tr>
              <a:tr h="843280"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/>
                        <a:t>C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/>
                        <a:t>0.91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0.98</a:t>
                      </a:r>
                      <a:endParaRPr lang="zh-CN" altLang="en-US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/>
                        <a:t>1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0.91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0.91</a:t>
                      </a:r>
                      <a:endParaRPr lang="zh-CN" altLang="en-US"/>
                    </a:p>
                  </a:txBody>
                  <a:tcPr anchor="ctr" anchorCtr="0"/>
                </a:tc>
              </a:tr>
              <a:tr h="843280"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/>
                        <a:t>D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/>
                        <a:t>0.91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0.91</a:t>
                      </a:r>
                      <a:endParaRPr lang="zh-CN" altLang="en-US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0.91</a:t>
                      </a:r>
                      <a:endParaRPr lang="zh-CN" altLang="en-US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/>
                        <a:t>1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0.98</a:t>
                      </a:r>
                      <a:endParaRPr lang="zh-CN" altLang="en-US"/>
                    </a:p>
                  </a:txBody>
                  <a:tcPr anchor="ctr" anchorCtr="0"/>
                </a:tc>
              </a:tr>
              <a:tr h="843280"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/>
                        <a:t>E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0.91</a:t>
                      </a:r>
                      <a:endParaRPr lang="zh-CN" altLang="en-US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0.91</a:t>
                      </a:r>
                      <a:endParaRPr lang="zh-CN" altLang="en-US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0.91</a:t>
                      </a:r>
                      <a:endParaRPr lang="zh-CN" altLang="en-US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0.98</a:t>
                      </a:r>
                      <a:endParaRPr lang="zh-CN" altLang="en-US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/>
                        <a:t>1</a:t>
                      </a:r>
                      <a:endParaRPr lang="en-US" altLang="zh-CN"/>
                    </a:p>
                  </a:txBody>
                  <a:tcPr anchor="ctr" anchorCtr="0"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2743</Words>
  <Application>WPS 演示</Application>
  <PresentationFormat>宽屏</PresentationFormat>
  <Paragraphs>311</Paragraphs>
  <Slides>31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31</vt:i4>
      </vt:variant>
    </vt:vector>
  </HeadingPairs>
  <TitlesOfParts>
    <vt:vector size="45" baseType="lpstr">
      <vt:lpstr>Arial</vt:lpstr>
      <vt:lpstr>宋体</vt:lpstr>
      <vt:lpstr>Wingdings</vt:lpstr>
      <vt:lpstr>DejaVu Sans</vt:lpstr>
      <vt:lpstr>Calibri Light</vt:lpstr>
      <vt:lpstr>思源黑体</vt:lpstr>
      <vt:lpstr>微软雅黑</vt:lpstr>
      <vt:lpstr>宋体</vt:lpstr>
      <vt:lpstr>Arial Unicode MS</vt:lpstr>
      <vt:lpstr>Calibri</vt:lpstr>
      <vt:lpstr>Inter</vt:lpstr>
      <vt:lpstr>国标仿宋</vt:lpstr>
      <vt:lpstr>Symbola</vt:lpstr>
      <vt:lpstr>WPS</vt:lpstr>
      <vt:lpstr>ReID问题分析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问题分析-遮挡</vt:lpstr>
      <vt:lpstr>问题分析-视角变化</vt:lpstr>
      <vt:lpstr>问题分析-姿态变化</vt:lpstr>
      <vt:lpstr>问题分析-衣着变化</vt:lpstr>
      <vt:lpstr>PowerPoint 演示文稿</vt:lpstr>
      <vt:lpstr>PowerPoint 演示文稿</vt:lpstr>
      <vt:lpstr>在一段连续的视频中，同一身份的行人，与标准图相比，其reid得分会经历怎样的变化？</vt:lpstr>
      <vt:lpstr>在一段连续的视频中，同一身份的行人，与标准图相比，其reid得分会经历怎样的变化？</vt:lpstr>
      <vt:lpstr>在一段连续的视频中，同一身份的行人，与标准图相比，其reid得分会经历怎样的变化？</vt:lpstr>
      <vt:lpstr>在一段连续的视频中，同一身份的行人，与标准图相比，其reid得分会经历怎样的变化？</vt:lpstr>
      <vt:lpstr>仅利用AI实现全自动追踪是不现实的</vt:lpstr>
      <vt:lpstr>PowerPoint 演示文稿</vt:lpstr>
      <vt:lpstr>PowerPoint 演示文稿</vt:lpstr>
      <vt:lpstr>数据</vt:lpstr>
      <vt:lpstr>分析</vt:lpstr>
      <vt:lpstr>PowerPoint 演示文稿</vt:lpstr>
      <vt:lpstr>PowerPoint 演示文稿</vt:lpstr>
      <vt:lpstr>必须有人工干预交互这一步</vt:lpstr>
      <vt:lpstr>ReID问题设置</vt:lpstr>
      <vt:lpstr>ReID问题设置</vt:lpstr>
      <vt:lpstr>结论</vt:lpstr>
      <vt:lpstr>ReID发挥作用的限定条件</vt:lpstr>
      <vt:lpstr>将阈值设为0.98，能达到多高的准确率？</vt:lpstr>
      <vt:lpstr>间接传递相似规则：AB相似、BC相似，即使AC不相似，也将AC视作同一身份。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suma</cp:lastModifiedBy>
  <cp:revision>147</cp:revision>
  <dcterms:created xsi:type="dcterms:W3CDTF">2025-06-17T01:20:10Z</dcterms:created>
  <dcterms:modified xsi:type="dcterms:W3CDTF">2025-06-17T01:20:10Z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2052-12.1.0.17885</vt:lpwstr>
  </property>
  <property fmtid="{D5CDD505-2E9C-101B-9397-08002B2CF9AE}" pid="3" name="ICV">
    <vt:lpwstr>860326A2D0EDA89B943046686BC87B95_41</vt:lpwstr>
  </property>
</Properties>
</file>