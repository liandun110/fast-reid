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40"/>
  </p:handoutMasterIdLst>
  <p:sldIdLst>
    <p:sldId id="265" r:id="rId3"/>
    <p:sldId id="262" r:id="rId4"/>
    <p:sldId id="256" r:id="rId5"/>
    <p:sldId id="257" r:id="rId6"/>
    <p:sldId id="258" r:id="rId7"/>
    <p:sldId id="259" r:id="rId8"/>
    <p:sldId id="261" r:id="rId9"/>
    <p:sldId id="276" r:id="rId10"/>
    <p:sldId id="277" r:id="rId11"/>
    <p:sldId id="279" r:id="rId12"/>
    <p:sldId id="278" r:id="rId13"/>
    <p:sldId id="285" r:id="rId14"/>
    <p:sldId id="284" r:id="rId15"/>
    <p:sldId id="283" r:id="rId16"/>
    <p:sldId id="286" r:id="rId17"/>
    <p:sldId id="288" r:id="rId18"/>
    <p:sldId id="287" r:id="rId19"/>
    <p:sldId id="309" r:id="rId20"/>
    <p:sldId id="298" r:id="rId21"/>
    <p:sldId id="294" r:id="rId22"/>
    <p:sldId id="322" r:id="rId24"/>
    <p:sldId id="295" r:id="rId25"/>
    <p:sldId id="293" r:id="rId26"/>
    <p:sldId id="296" r:id="rId27"/>
    <p:sldId id="334" r:id="rId28"/>
    <p:sldId id="335" r:id="rId29"/>
    <p:sldId id="336" r:id="rId30"/>
    <p:sldId id="337" r:id="rId31"/>
    <p:sldId id="338" r:id="rId32"/>
    <p:sldId id="297" r:id="rId33"/>
    <p:sldId id="266" r:id="rId34"/>
    <p:sldId id="267" r:id="rId35"/>
    <p:sldId id="260" r:id="rId36"/>
    <p:sldId id="275" r:id="rId37"/>
    <p:sldId id="291" r:id="rId38"/>
    <p:sldId id="292" r:id="rId3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ReID</a:t>
            </a:r>
            <a:r>
              <a:rPr lang="zh-CN" altLang="en-US"/>
              <a:t>特征易受遮挡、视角变化、姿态变化、衣着变化的影响。</a:t>
            </a:r>
            <a:endParaRPr lang="zh-CN" altLang="en-US"/>
          </a:p>
          <a:p>
            <a:r>
              <a:rPr lang="zh-CN" altLang="en-US"/>
              <a:t>也就是说，仅当</a:t>
            </a:r>
            <a:r>
              <a:rPr lang="zh-CN">
                <a:sym typeface="+mn-ea"/>
              </a:rPr>
              <a:t>不存在遮挡，无视角、姿态、衣着变化时，</a:t>
            </a:r>
            <a:r>
              <a:rPr lang="en-US" altLang="zh-CN">
                <a:sym typeface="+mn-ea"/>
              </a:rPr>
              <a:t>ReID</a:t>
            </a:r>
            <a:r>
              <a:rPr lang="zh-CN" altLang="en-US">
                <a:sym typeface="+mn-ea"/>
              </a:rPr>
              <a:t>特征才是有效的。</a:t>
            </a:r>
            <a:endParaRPr lang="zh-CN" altLang="en-US"/>
          </a:p>
          <a:p>
            <a:r>
              <a:rPr lang="zh-CN" altLang="en-US"/>
              <a:t>但是，当存在这种限定条件时，仅仅通过行人框的</a:t>
            </a:r>
            <a:r>
              <a:rPr lang="en-US" altLang="zh-CN"/>
              <a:t>IoU</a:t>
            </a:r>
            <a:r>
              <a:rPr lang="zh-CN" altLang="en-US"/>
              <a:t>就行了。为什么还需要</a:t>
            </a:r>
            <a:r>
              <a:rPr lang="en-US" altLang="zh-CN"/>
              <a:t>ReID</a:t>
            </a:r>
            <a:r>
              <a:rPr lang="zh-CN" altLang="en-US"/>
              <a:t>呢？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ReID</a:t>
            </a:r>
            <a:r>
              <a:rPr lang="zh-CN" altLang="en-US"/>
              <a:t>问题分析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/>
              <a:t>李振邦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ongbo_c1s1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89075"/>
          </a:xfrm>
          <a:prstGeom prst="rect">
            <a:avLst/>
          </a:prstGeom>
        </p:spPr>
      </p:pic>
      <p:pic>
        <p:nvPicPr>
          <p:cNvPr id="5" name="图片 4" descr="shixi_c1s1_similarity_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890"/>
            <a:ext cx="12192000" cy="1488440"/>
          </a:xfrm>
          <a:prstGeom prst="rect">
            <a:avLst/>
          </a:prstGeom>
        </p:spPr>
      </p:pic>
      <p:pic>
        <p:nvPicPr>
          <p:cNvPr id="6" name="图片 5" descr="yaojiu_c1s1_similarity_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3145"/>
            <a:ext cx="12192000" cy="1493520"/>
          </a:xfrm>
          <a:prstGeom prst="rect">
            <a:avLst/>
          </a:prstGeom>
        </p:spPr>
      </p:pic>
      <p:pic>
        <p:nvPicPr>
          <p:cNvPr id="7" name="图片 6" descr="yaojiu_c1s2_similarity_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4480"/>
            <a:ext cx="12192000" cy="14935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3573145"/>
            <a:ext cx="3104515" cy="146431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3216910"/>
            <a:ext cx="758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！与相同身份、不同身份的得分均在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0.93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附近，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ReID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相似性没有区分度！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63060" y="5037455"/>
            <a:ext cx="7910195" cy="413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提供的样本虽然很有代表性，但是数据有限，无法充分说明问题，因此在更多数据上进行实验验证。</a:t>
            </a:r>
            <a:endParaRPr lang="zh-CN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0001_c1s1_001051_00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7525"/>
            <a:ext cx="12192000" cy="1496060"/>
          </a:xfrm>
          <a:prstGeom prst="rect">
            <a:avLst/>
          </a:prstGeom>
        </p:spPr>
      </p:pic>
      <p:pic>
        <p:nvPicPr>
          <p:cNvPr id="31" name="图片 30" descr="0001_c2s1_000301_00_similarity_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96060"/>
          </a:xfrm>
          <a:prstGeom prst="rect">
            <a:avLst/>
          </a:prstGeom>
        </p:spPr>
      </p:pic>
      <p:pic>
        <p:nvPicPr>
          <p:cNvPr id="32" name="图片 31" descr="0003_c1s6_015971_00_similarity_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5050"/>
            <a:ext cx="12192000" cy="1496060"/>
          </a:xfrm>
          <a:prstGeom prst="rect">
            <a:avLst/>
          </a:prstGeom>
        </p:spPr>
      </p:pic>
      <p:pic>
        <p:nvPicPr>
          <p:cNvPr id="33" name="图片 32" descr="0003_c3s3_064744_00_similarity_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575"/>
            <a:ext cx="12192000" cy="149606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8094980" y="1553210"/>
            <a:ext cx="4097020" cy="193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FF0000"/>
                </a:solidFill>
              </a:rPr>
              <a:t>若表观差别不是特别大（数据源不同），则得分均大于</a:t>
            </a:r>
            <a:r>
              <a:rPr lang="en-US" altLang="zh-CN" sz="1200">
                <a:solidFill>
                  <a:srgbClr val="FF0000"/>
                </a:solidFill>
              </a:rPr>
              <a:t>0.9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590" y="1814195"/>
            <a:ext cx="3104515" cy="146431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0004_c1s6_016996_00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96060"/>
          </a:xfrm>
          <a:prstGeom prst="rect">
            <a:avLst/>
          </a:prstGeom>
        </p:spPr>
      </p:pic>
      <p:pic>
        <p:nvPicPr>
          <p:cNvPr id="5" name="图片 4" descr="0004_c2s3_059152_00_similarity_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7525"/>
            <a:ext cx="12192000" cy="1496060"/>
          </a:xfrm>
          <a:prstGeom prst="rect">
            <a:avLst/>
          </a:prstGeom>
        </p:spPr>
      </p:pic>
      <p:pic>
        <p:nvPicPr>
          <p:cNvPr id="6" name="图片 5" descr="0005_c5s1_000401_00_similarity_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5050"/>
            <a:ext cx="12192000" cy="1496060"/>
          </a:xfrm>
          <a:prstGeom prst="rect">
            <a:avLst/>
          </a:prstGeom>
        </p:spPr>
      </p:pic>
      <p:pic>
        <p:nvPicPr>
          <p:cNvPr id="7" name="图片 6" descr="0005_c6s1_004576_00_similarity_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575"/>
            <a:ext cx="12192000" cy="14960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3216910"/>
            <a:ext cx="758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与相同身份相似度能达到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0.96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，但与不同身份的得分也高达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0.93</a:t>
            </a:r>
            <a:r>
              <a:rPr lang="zh-CN">
                <a:solidFill>
                  <a:srgbClr val="FF0000"/>
                </a:solidFill>
                <a:sym typeface="+mn-ea"/>
              </a:rPr>
              <a:t>。</a:t>
            </a:r>
            <a:endParaRPr 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0006_c1s6_026921_00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96060"/>
          </a:xfrm>
          <a:prstGeom prst="rect">
            <a:avLst/>
          </a:prstGeom>
        </p:spPr>
      </p:pic>
      <p:pic>
        <p:nvPicPr>
          <p:cNvPr id="5" name="图片 4" descr="0006_c2s3_069327_00_similarity_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7525"/>
            <a:ext cx="12192000" cy="1496060"/>
          </a:xfrm>
          <a:prstGeom prst="rect">
            <a:avLst/>
          </a:prstGeom>
        </p:spPr>
      </p:pic>
      <p:pic>
        <p:nvPicPr>
          <p:cNvPr id="6" name="图片 5" descr="0008_c1s1_000376_00_similarity_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5050"/>
            <a:ext cx="12192000" cy="1496060"/>
          </a:xfrm>
          <a:prstGeom prst="rect">
            <a:avLst/>
          </a:prstGeom>
        </p:spPr>
      </p:pic>
      <p:pic>
        <p:nvPicPr>
          <p:cNvPr id="7" name="图片 6" descr="0008_c5s1_000401_00_similarity_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575"/>
            <a:ext cx="12192000" cy="149606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3590925"/>
            <a:ext cx="3104515" cy="146431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1590" y="5394960"/>
            <a:ext cx="3104515" cy="146431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0009_c1s1_000376_00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96060"/>
          </a:xfrm>
          <a:prstGeom prst="rect">
            <a:avLst/>
          </a:prstGeom>
        </p:spPr>
      </p:pic>
      <p:pic>
        <p:nvPicPr>
          <p:cNvPr id="5" name="图片 4" descr="0009_c5s1_000476_00_similarity_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7525"/>
            <a:ext cx="12192000" cy="1496060"/>
          </a:xfrm>
          <a:prstGeom prst="rect">
            <a:avLst/>
          </a:prstGeom>
        </p:spPr>
      </p:pic>
      <p:pic>
        <p:nvPicPr>
          <p:cNvPr id="6" name="图片 5" descr="0013_c5s1_000426_00_similarity_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5050"/>
            <a:ext cx="12192000" cy="1496060"/>
          </a:xfrm>
          <a:prstGeom prst="rect">
            <a:avLst/>
          </a:prstGeom>
        </p:spPr>
      </p:pic>
      <p:pic>
        <p:nvPicPr>
          <p:cNvPr id="7" name="图片 6" descr="0013_c6s1_000451_00_similarity_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575"/>
            <a:ext cx="12192000" cy="149606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925" y="34925"/>
            <a:ext cx="5380990" cy="146431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1590" y="1814195"/>
            <a:ext cx="4166235" cy="146431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1590" y="3590925"/>
            <a:ext cx="4166235" cy="146431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0014_c1s1_001051_00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96060"/>
          </a:xfrm>
          <a:prstGeom prst="rect">
            <a:avLst/>
          </a:prstGeom>
        </p:spPr>
      </p:pic>
      <p:pic>
        <p:nvPicPr>
          <p:cNvPr id="5" name="图片 4" descr="0014_c4s1_000351_00_similarity_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7525"/>
            <a:ext cx="12192000" cy="1496060"/>
          </a:xfrm>
          <a:prstGeom prst="rect">
            <a:avLst/>
          </a:prstGeom>
        </p:spPr>
      </p:pic>
      <p:pic>
        <p:nvPicPr>
          <p:cNvPr id="6" name="图片 5" descr="0015_c1s1_001351_00_similarity_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5050"/>
            <a:ext cx="12192000" cy="1496060"/>
          </a:xfrm>
          <a:prstGeom prst="rect">
            <a:avLst/>
          </a:prstGeom>
        </p:spPr>
      </p:pic>
      <p:pic>
        <p:nvPicPr>
          <p:cNvPr id="7" name="图片 6" descr="0015_c2s1_000801_00_similarity_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575"/>
            <a:ext cx="12192000" cy="1496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问题分析</a:t>
            </a:r>
            <a:r>
              <a:rPr lang="en-US" altLang="zh-CN"/>
              <a:t>-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遮挡</a:t>
            </a:r>
            <a:endParaRPr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1165" y="4366895"/>
            <a:ext cx="9688830" cy="1363980"/>
          </a:xfrm>
        </p:spPr>
        <p:txBody>
          <a:bodyPr lIns="0" tIns="0" rIns="0" bIns="0">
            <a:noAutofit/>
          </a:bodyPr>
          <a:p>
            <a:r>
              <a:rPr lang="zh-CN" altLang="en-US">
                <a:sym typeface="+mn-ea"/>
              </a:rPr>
              <a:t>待检索行人的画面：全身照，存在下半身腿部特征。</a:t>
            </a:r>
            <a:endParaRPr lang="zh-CN" altLang="en-US"/>
          </a:p>
          <a:p>
            <a:r>
              <a:rPr lang="zh-CN" altLang="en-US">
                <a:sym typeface="+mn-ea"/>
              </a:rPr>
              <a:t>同一身份行人的另一个画面：下半身腿部区域被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遮挡</a:t>
            </a:r>
            <a:r>
              <a:rPr lang="zh-CN" altLang="en-US">
                <a:sym typeface="+mn-ea"/>
              </a:rPr>
              <a:t>，只剩上半身区域。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错误匹配到的行人画面：</a:t>
            </a:r>
            <a:r>
              <a:rPr lang="zh-CN" altLang="en-US">
                <a:sym typeface="+mn-ea"/>
              </a:rPr>
              <a:t>下半身腿部区域未被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遮挡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1555" y="1898650"/>
            <a:ext cx="4707255" cy="22713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问题分析</a:t>
            </a:r>
            <a:r>
              <a:rPr lang="en-US" altLang="zh-CN"/>
              <a:t>-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130" y="2720340"/>
            <a:ext cx="10352405" cy="770255"/>
          </a:xfrm>
        </p:spPr>
        <p:txBody>
          <a:bodyPr/>
          <a:p>
            <a:pPr marL="0" indent="0">
              <a:buNone/>
            </a:pPr>
            <a:r>
              <a:rPr lang="zh-CN" altLang="en-US"/>
              <a:t>待检索的图像为背面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。由于行人的拍摄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发生了变化，变成了正面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，导致错误地匹配到了具有背面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的其他行人。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130" y="1185545"/>
            <a:ext cx="3125470" cy="15354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55" y="3971925"/>
            <a:ext cx="3293110" cy="1554480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913130" y="5539105"/>
            <a:ext cx="10352405" cy="823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待检索的图像为正面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。由于行人的拍摄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发生了变化，变成了背面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，导致错误地匹配到了具有正面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视角</a:t>
            </a:r>
            <a:r>
              <a:rPr lang="zh-CN" altLang="en-US"/>
              <a:t>的其他行人。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285" y="1229360"/>
            <a:ext cx="5657850" cy="15354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480" y="3813175"/>
            <a:ext cx="4986655" cy="1725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问题分析</a:t>
            </a:r>
            <a:r>
              <a:rPr lang="en-US" altLang="zh-CN"/>
              <a:t>-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姿态</a:t>
            </a:r>
            <a:r>
              <a:rPr lang="zh-CN" altLang="en-US"/>
              <a:t>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935" y="3676015"/>
            <a:ext cx="10515600" cy="2055495"/>
          </a:xfrm>
        </p:spPr>
        <p:txBody>
          <a:bodyPr/>
          <a:p>
            <a:r>
              <a:rPr lang="zh-CN" altLang="en-US"/>
              <a:t>待检索行人的画面：</a:t>
            </a:r>
            <a:r>
              <a:rPr lang="zh-CN" altLang="en-US">
                <a:sym typeface="+mn-ea"/>
              </a:rPr>
              <a:t>正面拍摄的驾驶非机动车的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姿态</a:t>
            </a:r>
            <a:r>
              <a:rPr lang="zh-CN" altLang="en-US">
                <a:sym typeface="+mn-ea"/>
              </a:rPr>
              <a:t>。</a:t>
            </a:r>
            <a:r>
              <a:rPr lang="zh-CN" altLang="en-US"/>
              <a:t>画面中下部是从正面视角拍摄的非机动车。</a:t>
            </a:r>
            <a:endParaRPr lang="zh-CN" altLang="en-US"/>
          </a:p>
          <a:p>
            <a:r>
              <a:rPr lang="zh-CN" altLang="en-US"/>
              <a:t>同一身份行人的另一个画面：侧</a:t>
            </a:r>
            <a:r>
              <a:rPr lang="zh-CN" altLang="en-US">
                <a:sym typeface="+mn-ea"/>
              </a:rPr>
              <a:t>面拍摄的驾驶非机动车的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姿态</a:t>
            </a:r>
            <a:r>
              <a:rPr lang="zh-CN" altLang="en-US">
                <a:sym typeface="+mn-ea"/>
              </a:rPr>
              <a:t>。</a:t>
            </a:r>
            <a:r>
              <a:rPr lang="zh-CN" altLang="en-US"/>
              <a:t>画面中下部是行人的腿部（黑色裤子）。</a:t>
            </a:r>
            <a:endParaRPr lang="zh-CN" altLang="en-US"/>
          </a:p>
          <a:p>
            <a:r>
              <a:rPr lang="zh-CN" altLang="en-US"/>
              <a:t>错误匹配到的行人画面：头部、上半身的姿态与待检索行人较为相似，均为正面拍摄的驾驶非机动车的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姿态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360" y="1175385"/>
            <a:ext cx="7000875" cy="2500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问题分析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衣着</a:t>
            </a:r>
            <a:r>
              <a:rPr lang="zh-CN" altLang="en-US">
                <a:sym typeface="+mn-ea"/>
              </a:rPr>
              <a:t>变化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7815" y="4373880"/>
            <a:ext cx="8325485" cy="1803400"/>
          </a:xfrm>
        </p:spPr>
        <p:txBody>
          <a:bodyPr/>
          <a:p>
            <a:r>
              <a:rPr lang="zh-CN" altLang="en-US"/>
              <a:t>由于行人的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衣着</a:t>
            </a:r>
            <a:r>
              <a:rPr lang="zh-CN" altLang="en-US"/>
              <a:t>发生变化，导致相似性得分较低。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4675" y="1094105"/>
            <a:ext cx="596265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0445" y="1825625"/>
            <a:ext cx="9769475" cy="435165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/>
        </p:nvSpPr>
        <p:spPr>
          <a:xfrm>
            <a:off x="774700" y="3854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在一段连续的视频中，同一身份的行人，与标准图相比，其</a:t>
            </a:r>
            <a:r>
              <a:rPr lang="en-US" altLang="zh-CN"/>
              <a:t>reid</a:t>
            </a:r>
            <a:r>
              <a:rPr lang="zh-CN" altLang="en-US"/>
              <a:t>得分会经历怎样的变化？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06750" y="6109335"/>
            <a:ext cx="6663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ID=1</a:t>
            </a:r>
            <a:r>
              <a:rPr lang="zh-CN" altLang="en-US"/>
              <a:t>：前</a:t>
            </a:r>
            <a:r>
              <a:rPr lang="en-US" altLang="zh-CN"/>
              <a:t>160</a:t>
            </a:r>
            <a:r>
              <a:rPr lang="zh-CN" altLang="en-US"/>
              <a:t>帧稳定在</a:t>
            </a:r>
            <a:r>
              <a:rPr lang="en-US" altLang="zh-CN"/>
              <a:t>0.98</a:t>
            </a:r>
            <a:r>
              <a:rPr lang="zh-CN" altLang="en-US"/>
              <a:t>。干扰项均未超过</a:t>
            </a:r>
            <a:r>
              <a:rPr lang="en-US" altLang="zh-CN"/>
              <a:t>0.98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1075" y="1466850"/>
            <a:ext cx="10327005" cy="4563745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/>
        </p:nvSpPr>
        <p:spPr>
          <a:xfrm>
            <a:off x="774700" y="3854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在一段连续的视频中，同一身份的行人，与标准图相比，其</a:t>
            </a:r>
            <a:r>
              <a:rPr lang="en-US" altLang="zh-CN"/>
              <a:t>reid</a:t>
            </a:r>
            <a:r>
              <a:rPr lang="zh-CN" altLang="en-US"/>
              <a:t>得分会经历怎样的变化？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08910" y="6109335"/>
            <a:ext cx="7160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ID=2</a:t>
            </a:r>
            <a:r>
              <a:rPr lang="zh-CN" altLang="en-US"/>
              <a:t>：前</a:t>
            </a:r>
            <a:r>
              <a:rPr lang="en-US" altLang="zh-CN"/>
              <a:t>100</a:t>
            </a:r>
            <a:r>
              <a:rPr lang="zh-CN" altLang="en-US"/>
              <a:t>帧稳定在</a:t>
            </a:r>
            <a:r>
              <a:rPr lang="en-US" altLang="zh-CN"/>
              <a:t>0.98</a:t>
            </a:r>
            <a:r>
              <a:rPr lang="zh-CN" altLang="en-US"/>
              <a:t>。干扰项均未超过</a:t>
            </a:r>
            <a:r>
              <a:rPr lang="en-US" altLang="zh-CN"/>
              <a:t>0.98</a:t>
            </a:r>
            <a:r>
              <a:rPr lang="zh-CN" altLang="en-US"/>
              <a:t>（但接近</a:t>
            </a:r>
            <a:r>
              <a:rPr lang="en-US" altLang="zh-CN"/>
              <a:t>0.97</a:t>
            </a:r>
            <a:r>
              <a:rPr lang="zh-CN" altLang="en-US"/>
              <a:t>）。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在一段连续的视频中，同一身份的行人，与标准图相比，其</a:t>
            </a:r>
            <a:r>
              <a:rPr lang="en-US" altLang="zh-CN"/>
              <a:t>reid</a:t>
            </a:r>
            <a:r>
              <a:rPr lang="zh-CN" altLang="en-US"/>
              <a:t>得分会经历怎样的变化？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584325"/>
            <a:ext cx="10527030" cy="47097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25420" y="6242685"/>
            <a:ext cx="5681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ID=3</a:t>
            </a:r>
            <a:r>
              <a:rPr lang="zh-CN" altLang="en-US"/>
              <a:t>：前</a:t>
            </a:r>
            <a:r>
              <a:rPr lang="en-US" altLang="zh-CN"/>
              <a:t>150</a:t>
            </a:r>
            <a:r>
              <a:rPr lang="zh-CN" altLang="en-US"/>
              <a:t>帧稳定在</a:t>
            </a:r>
            <a:r>
              <a:rPr lang="en-US" altLang="zh-CN"/>
              <a:t>0.98</a:t>
            </a:r>
            <a:r>
              <a:rPr lang="zh-CN" altLang="en-US"/>
              <a:t>。干扰项均未超过</a:t>
            </a:r>
            <a:r>
              <a:rPr lang="en-US" altLang="zh-CN"/>
              <a:t>0.98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0445" y="1430655"/>
            <a:ext cx="9769475" cy="435165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在一段连续的视频中，同一身份的行人，与标准图相比，其</a:t>
            </a:r>
            <a:r>
              <a:rPr lang="en-US" altLang="zh-CN"/>
              <a:t>reid</a:t>
            </a:r>
            <a:r>
              <a:rPr lang="zh-CN" altLang="en-US"/>
              <a:t>得分会经历怎样的变化？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25420" y="5949950"/>
            <a:ext cx="5681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ID=4</a:t>
            </a:r>
            <a:r>
              <a:rPr lang="zh-CN" altLang="en-US"/>
              <a:t>：前</a:t>
            </a:r>
            <a:r>
              <a:rPr lang="en-US" altLang="zh-CN"/>
              <a:t>380</a:t>
            </a:r>
            <a:r>
              <a:rPr lang="zh-CN" altLang="en-US"/>
              <a:t>帧稳定在</a:t>
            </a:r>
            <a:r>
              <a:rPr lang="en-US" altLang="zh-CN"/>
              <a:t>0.98</a:t>
            </a:r>
            <a:r>
              <a:rPr lang="zh-CN" altLang="en-US"/>
              <a:t>。干扰项均未超过</a:t>
            </a:r>
            <a:r>
              <a:rPr lang="en-US" altLang="zh-CN"/>
              <a:t>0.98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2675" y="1532255"/>
            <a:ext cx="9644380" cy="435165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在一段连续的视频中，同一身份的行人，与标准图相比，其</a:t>
            </a:r>
            <a:r>
              <a:rPr lang="en-US" altLang="zh-CN"/>
              <a:t>reid</a:t>
            </a:r>
            <a:r>
              <a:rPr lang="zh-CN" altLang="en-US"/>
              <a:t>得分会经历怎样的变化？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78660" y="5949950"/>
            <a:ext cx="8287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ID=6</a:t>
            </a:r>
            <a:r>
              <a:rPr lang="zh-CN" altLang="en-US"/>
              <a:t>：前</a:t>
            </a:r>
            <a:r>
              <a:rPr lang="en-US" altLang="zh-CN"/>
              <a:t>240</a:t>
            </a:r>
            <a:r>
              <a:rPr lang="zh-CN" altLang="en-US"/>
              <a:t>帧稳定在</a:t>
            </a:r>
            <a:r>
              <a:rPr lang="en-US" altLang="zh-CN"/>
              <a:t>0.98</a:t>
            </a:r>
            <a:r>
              <a:rPr lang="zh-CN" altLang="en-US"/>
              <a:t>。干扰项均未超过</a:t>
            </a:r>
            <a:r>
              <a:rPr lang="en-US" altLang="zh-CN"/>
              <a:t>0.98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zh-CN" altLang="en-US"/>
              <a:t>根据后续分析，采用</a:t>
            </a:r>
            <a:r>
              <a:rPr lang="en-US" altLang="zh-CN"/>
              <a:t>0.98</a:t>
            </a:r>
            <a:r>
              <a:rPr lang="zh-CN" altLang="en-US"/>
              <a:t>作为阈值的可靠性为千分之</a:t>
            </a:r>
            <a:r>
              <a:rPr lang="en-US" altLang="zh-CN"/>
              <a:t>998</a:t>
            </a:r>
            <a:r>
              <a:rPr lang="zh-CN" altLang="en-US"/>
              <a:t>，召回率为</a:t>
            </a:r>
            <a:r>
              <a:rPr lang="en-US" altLang="zh-CN"/>
              <a:t>10%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1870" y="1616075"/>
            <a:ext cx="9825990" cy="435165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在一段连续的视频中，同一身份的行人，与标准图相比，其</a:t>
            </a:r>
            <a:r>
              <a:rPr lang="en-US" altLang="zh-CN"/>
              <a:t>reid</a:t>
            </a:r>
            <a:r>
              <a:rPr lang="zh-CN" altLang="en-US"/>
              <a:t>得分会经历怎样的变化？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25420" y="5949950"/>
            <a:ext cx="5681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ID=5</a:t>
            </a:r>
            <a:r>
              <a:rPr lang="zh-CN" altLang="en-US"/>
              <a:t>：前</a:t>
            </a:r>
            <a:r>
              <a:rPr lang="en-US" altLang="zh-CN"/>
              <a:t>10</a:t>
            </a:r>
            <a:r>
              <a:rPr lang="zh-CN" altLang="en-US"/>
              <a:t>帧稳定在</a:t>
            </a:r>
            <a:r>
              <a:rPr lang="en-US" altLang="zh-CN"/>
              <a:t>0.98</a:t>
            </a:r>
            <a:r>
              <a:rPr lang="zh-CN" altLang="en-US"/>
              <a:t>。干扰项均未超过</a:t>
            </a:r>
            <a:r>
              <a:rPr lang="en-US" altLang="zh-CN"/>
              <a:t>0.98</a:t>
            </a:r>
            <a:r>
              <a:rPr lang="zh-CN" altLang="en-US"/>
              <a:t>。表观剧烈变化。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29665" y="2213610"/>
            <a:ext cx="9932670" cy="730250"/>
          </a:xfrm>
        </p:spPr>
        <p:txBody>
          <a:bodyPr>
            <a:noAutofit/>
          </a:bodyPr>
          <a:p>
            <a:r>
              <a:rPr lang="zh-CN" altLang="en-US" sz="4400"/>
              <a:t>仅利用</a:t>
            </a:r>
            <a:r>
              <a:rPr lang="en-US" altLang="zh-CN" sz="4400">
                <a:solidFill>
                  <a:srgbClr val="FF0000"/>
                </a:solidFill>
              </a:rPr>
              <a:t>AI</a:t>
            </a:r>
            <a:r>
              <a:rPr lang="zh-CN" altLang="en-US" sz="4400"/>
              <a:t>实现全自动追踪是不现实的</a:t>
            </a:r>
            <a:endParaRPr lang="zh-CN" altLang="en-US" sz="4400"/>
          </a:p>
        </p:txBody>
      </p:sp>
      <p:sp>
        <p:nvSpPr>
          <p:cNvPr id="5" name="文本框 4"/>
          <p:cNvSpPr txBox="1"/>
          <p:nvPr/>
        </p:nvSpPr>
        <p:spPr>
          <a:xfrm>
            <a:off x="2884805" y="3827145"/>
            <a:ext cx="642239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必须采用</a:t>
            </a:r>
            <a:r>
              <a:rPr lang="en-US" altLang="zh-CN">
                <a:solidFill>
                  <a:srgbClr val="FF0000"/>
                </a:solidFill>
              </a:rPr>
              <a:t>AI</a:t>
            </a:r>
            <a:r>
              <a:rPr lang="en-US" altLang="zh-CN"/>
              <a:t>+</a:t>
            </a:r>
            <a:r>
              <a:rPr lang="zh-CN" altLang="en-US">
                <a:solidFill>
                  <a:srgbClr val="FF0000"/>
                </a:solidFill>
              </a:rPr>
              <a:t>人工</a:t>
            </a:r>
            <a:r>
              <a:rPr lang="zh-CN" altLang="en-US"/>
              <a:t>交互的模式。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如何交互？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想要做好</a:t>
            </a:r>
            <a:r>
              <a:rPr lang="en-US" altLang="zh-CN">
                <a:solidFill>
                  <a:srgbClr val="FF0000"/>
                </a:solidFill>
              </a:rPr>
              <a:t>AI</a:t>
            </a:r>
            <a:r>
              <a:rPr lang="zh-CN" altLang="en-US"/>
              <a:t>跨镜追踪，必须想清楚目前实战中是如何进行</a:t>
            </a:r>
            <a:r>
              <a:rPr lang="zh-CN" altLang="en-US">
                <a:solidFill>
                  <a:srgbClr val="FF0000"/>
                </a:solidFill>
              </a:rPr>
              <a:t>人工</a:t>
            </a:r>
            <a:r>
              <a:rPr lang="zh-CN" altLang="en-US"/>
              <a:t>跨境追踪的。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34619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8449945" y="2655570"/>
            <a:ext cx="1215390" cy="1215390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81100" y="3302000"/>
            <a:ext cx="1215390" cy="1215390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341370" y="3075305"/>
            <a:ext cx="1215390" cy="1215390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669915" y="2936240"/>
            <a:ext cx="1215390" cy="1215390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794750" y="3016250"/>
            <a:ext cx="52514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3200" b="0" i="0">
                <a:latin typeface="Inter"/>
                <a:ea typeface="Inter"/>
              </a:rPr>
              <a:t>🚶</a:t>
            </a:r>
            <a:endParaRPr lang="zh-CN" altLang="en-US" sz="3200" b="0" i="0">
              <a:latin typeface="Inter"/>
              <a:ea typeface="Inter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14720" y="3287395"/>
            <a:ext cx="52514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3200" b="0" i="0">
                <a:latin typeface="Inter"/>
                <a:ea typeface="Inter"/>
              </a:rPr>
              <a:t>🚶</a:t>
            </a:r>
            <a:endParaRPr lang="zh-CN" altLang="en-US" sz="3200" b="0" i="0">
              <a:latin typeface="Inter"/>
              <a:ea typeface="Inter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63950" y="3391535"/>
            <a:ext cx="52514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3200" b="0" i="0">
                <a:latin typeface="Inter"/>
                <a:ea typeface="Inter"/>
              </a:rPr>
              <a:t>🚶</a:t>
            </a:r>
            <a:endParaRPr lang="zh-CN" altLang="en-US" sz="3200" b="0" i="0">
              <a:latin typeface="Inter"/>
              <a:ea typeface="Inter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26540" y="3618230"/>
            <a:ext cx="52514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3200" b="0" i="0">
                <a:latin typeface="Inter"/>
                <a:ea typeface="Inter"/>
              </a:rPr>
              <a:t>🚶</a:t>
            </a:r>
            <a:endParaRPr lang="zh-CN" altLang="en-US" sz="3200" b="0" i="0"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34619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8449945" y="2655570"/>
            <a:ext cx="1215390" cy="1215390"/>
          </a:xfrm>
          <a:prstGeom prst="ellipse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8345170" y="641985"/>
            <a:ext cx="1215390" cy="1215390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472170" y="4669155"/>
            <a:ext cx="1215390" cy="1215390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847080" y="2872105"/>
            <a:ext cx="1215390" cy="1215390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794750" y="3016250"/>
            <a:ext cx="52514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3200" b="0" i="0">
                <a:latin typeface="Inter"/>
                <a:ea typeface="Inter"/>
              </a:rPr>
              <a:t>🚶</a:t>
            </a:r>
            <a:endParaRPr lang="zh-CN" altLang="en-US" sz="3200" b="0" i="0">
              <a:latin typeface="Inter"/>
              <a:ea typeface="Inter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794750" y="1035685"/>
            <a:ext cx="26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319520" y="3295650"/>
            <a:ext cx="26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921750" y="5122545"/>
            <a:ext cx="26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650605" y="2383155"/>
            <a:ext cx="811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相机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8547100" y="422275"/>
            <a:ext cx="811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相机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6048375" y="2510155"/>
            <a:ext cx="811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相机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8681085" y="4354195"/>
            <a:ext cx="811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相机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9050" y="6351270"/>
            <a:ext cx="12172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给出相机</a:t>
            </a:r>
            <a:r>
              <a:rPr lang="en-US" altLang="zh-CN" sz="1400"/>
              <a:t>1</a:t>
            </a:r>
            <a:r>
              <a:rPr lang="zh-CN" altLang="en-US" sz="1400"/>
              <a:t>中的一个重点人</a:t>
            </a:r>
            <a:r>
              <a:rPr lang="en-US" altLang="zh-CN" sz="1400"/>
              <a:t>,</a:t>
            </a:r>
            <a:r>
              <a:rPr lang="zh-CN" altLang="en-US" sz="1400"/>
              <a:t>在相邻相机</a:t>
            </a:r>
            <a:r>
              <a:rPr lang="en-US" altLang="zh-CN" sz="1400"/>
              <a:t>(</a:t>
            </a:r>
            <a:r>
              <a:rPr lang="zh-CN" altLang="en-US" sz="1400"/>
              <a:t>相机</a:t>
            </a:r>
            <a:r>
              <a:rPr lang="en-US" altLang="zh-CN" sz="1400"/>
              <a:t>2~4)</a:t>
            </a:r>
            <a:r>
              <a:rPr lang="zh-CN" altLang="en-US" sz="1400"/>
              <a:t>提供</a:t>
            </a:r>
            <a:r>
              <a:rPr lang="en-US" altLang="zh-CN" sz="1400"/>
              <a:t>reid</a:t>
            </a:r>
            <a:r>
              <a:rPr lang="zh-CN" altLang="en-US" sz="1400"/>
              <a:t>得分最高的候选行人</a:t>
            </a:r>
            <a:r>
              <a:rPr lang="en-US" altLang="zh-CN" sz="1400"/>
              <a:t>.</a:t>
            </a:r>
            <a:r>
              <a:rPr lang="zh-CN" altLang="en-US" sz="1400"/>
              <a:t>由于</a:t>
            </a:r>
            <a:r>
              <a:rPr lang="en-US" altLang="zh-CN" sz="1400"/>
              <a:t>reid</a:t>
            </a:r>
            <a:r>
              <a:rPr lang="zh-CN" altLang="en-US" sz="1400"/>
              <a:t>得分的不稳定性</a:t>
            </a:r>
            <a:r>
              <a:rPr lang="en-US" altLang="zh-CN" sz="1400"/>
              <a:t>,</a:t>
            </a:r>
            <a:r>
              <a:rPr lang="zh-CN" altLang="en-US" sz="1400"/>
              <a:t>必须要人工选择正确的候选行人</a:t>
            </a:r>
            <a:r>
              <a:rPr lang="en-US" altLang="zh-CN" sz="1400"/>
              <a:t>.-&gt;</a:t>
            </a:r>
            <a:r>
              <a:rPr lang="zh-CN" altLang="en-US" sz="1400"/>
              <a:t>真的能够提高人工效率吗？人工效率肯定很慢。自己找一遍试试就知道了。</a:t>
            </a:r>
            <a:endParaRPr lang="zh-CN" alt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必须要在真实环境中的数据上进行实验：</a:t>
            </a:r>
            <a:r>
              <a:rPr lang="en-US" altLang="zh-CN"/>
              <a:t>AB</a:t>
            </a:r>
            <a:r>
              <a:rPr lang="zh-CN" altLang="en-US"/>
              <a:t>两个摄像机，时间均为</a:t>
            </a:r>
            <a:r>
              <a:rPr lang="en-US" altLang="zh-CN"/>
              <a:t>08:00~08:01</a:t>
            </a:r>
            <a:endParaRPr lang="en-US" altLang="zh-CN"/>
          </a:p>
          <a:p>
            <a:r>
              <a:rPr lang="zh-CN" altLang="en-US"/>
              <a:t>什么是真实环境中的数据？园区中（比如一所里）的两个监控相机（得有一定距离）的视频。</a:t>
            </a:r>
            <a:endParaRPr lang="zh-CN" altLang="en-US"/>
          </a:p>
          <a:p>
            <a:r>
              <a:rPr lang="zh-CN" altLang="en-US"/>
              <a:t>公开数据集由于隐私问题全都下架了。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前面的实验分析表明，</a:t>
            </a:r>
            <a:r>
              <a:rPr lang="en-US" altLang="zh-CN"/>
              <a:t>reid</a:t>
            </a:r>
            <a:r>
              <a:rPr lang="zh-CN" altLang="en-US"/>
              <a:t>特征较为脆弱，同一身份特征容易变，且容易受不同身份干扰。那么，</a:t>
            </a:r>
            <a:r>
              <a:rPr lang="en-US" altLang="zh-CN"/>
              <a:t>reid</a:t>
            </a:r>
            <a:r>
              <a:rPr lang="zh-CN" altLang="en-US"/>
              <a:t>特征到底有什么用？</a:t>
            </a:r>
            <a:endParaRPr lang="zh-CN" altLang="en-US"/>
          </a:p>
          <a:p>
            <a:r>
              <a:rPr lang="zh-CN" altLang="en-US"/>
              <a:t>需要回顾我们的出发点和目标。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5814695"/>
            <a:ext cx="12191365" cy="1043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1000">
                <a:sym typeface="+mn-ea"/>
              </a:rPr>
              <a:t>重点关注典型样本：</a:t>
            </a:r>
            <a:r>
              <a:rPr lang="en-US" altLang="zh-CN" sz="1000">
                <a:sym typeface="+mn-ea"/>
              </a:rPr>
              <a:t>ID=089</a:t>
            </a:r>
            <a:r>
              <a:rPr lang="zh-CN" altLang="en-US" sz="1000">
                <a:sym typeface="+mn-ea"/>
              </a:rPr>
              <a:t>。存在复杂遮挡情况。采用检测框而非</a:t>
            </a:r>
            <a:r>
              <a:rPr lang="en-US" altLang="zh-CN" sz="1000">
                <a:sym typeface="+mn-ea"/>
              </a:rPr>
              <a:t>GT</a:t>
            </a:r>
            <a:r>
              <a:rPr lang="zh-CN" altLang="en-US" sz="1000">
                <a:sym typeface="+mn-ea"/>
              </a:rPr>
              <a:t>框。</a:t>
            </a:r>
            <a:endParaRPr lang="zh-CN" altLang="en-US" sz="1000"/>
          </a:p>
          <a:p>
            <a:pPr algn="l">
              <a:lnSpc>
                <a:spcPct val="130000"/>
              </a:lnSpc>
            </a:pPr>
            <a:r>
              <a:rPr lang="zh-CN" altLang="en-US" sz="1000"/>
              <a:t>若仅关注</a:t>
            </a:r>
            <a:r>
              <a:rPr lang="en-US" altLang="zh-CN" sz="1000"/>
              <a:t>GT</a:t>
            </a:r>
            <a:r>
              <a:rPr lang="zh-CN" altLang="en-US" sz="1000"/>
              <a:t>框，我们可能会希望对每一帧（包括严重遮挡的）进行关联。但实际上，严重遮挡的行人根本不会有检测框。所以说，那些严重遮挡的情况，反而不需要我们操心去处理。</a:t>
            </a:r>
            <a:br>
              <a:rPr lang="zh-CN" altLang="en-US" sz="1000"/>
            </a:br>
            <a:r>
              <a:rPr lang="zh-CN" altLang="en-US" sz="1000"/>
              <a:t>在一段视频中，我们需要获得每一帧的轨迹吗？是不是在一个镜头中定位一次就够了？</a:t>
            </a:r>
            <a:br>
              <a:rPr lang="zh-CN" altLang="en-US" sz="1000"/>
            </a:br>
            <a:r>
              <a:rPr lang="zh-CN" altLang="en-US" sz="1000"/>
              <a:t>在实战中，到底需要怎样的追踪？假设</a:t>
            </a:r>
            <a:r>
              <a:rPr lang="en-US" altLang="zh-CN" sz="1000"/>
              <a:t>089</a:t>
            </a:r>
            <a:r>
              <a:rPr lang="zh-CN" altLang="en-US" sz="1000"/>
              <a:t>是重点人，我们需要知道的是，</a:t>
            </a:r>
            <a:r>
              <a:rPr lang="en-US" altLang="zh-CN" sz="1000"/>
              <a:t>ta</a:t>
            </a:r>
            <a:r>
              <a:rPr lang="zh-CN" altLang="en-US" sz="1000"/>
              <a:t>在</a:t>
            </a:r>
            <a:r>
              <a:rPr lang="en-US" altLang="zh-CN" sz="1000"/>
              <a:t>08</a:t>
            </a:r>
            <a:r>
              <a:rPr lang="zh-CN" altLang="en-US" sz="1000"/>
              <a:t>：</a:t>
            </a:r>
            <a:r>
              <a:rPr lang="en-US" altLang="zh-CN" sz="1000"/>
              <a:t>45</a:t>
            </a:r>
            <a:r>
              <a:rPr lang="zh-CN" altLang="en-US" sz="1000"/>
              <a:t>出现在首体南路</a:t>
            </a:r>
            <a:r>
              <a:rPr lang="en-US" altLang="zh-CN" sz="1000"/>
              <a:t>1</a:t>
            </a:r>
            <a:r>
              <a:rPr lang="zh-CN" altLang="en-US" sz="1000"/>
              <a:t>号院东门附近，</a:t>
            </a:r>
            <a:r>
              <a:rPr lang="en-US" altLang="zh-CN" sz="1000"/>
              <a:t>08:50</a:t>
            </a:r>
            <a:r>
              <a:rPr lang="zh-CN" altLang="en-US" sz="1000"/>
              <a:t>出现在主语国际附近，</a:t>
            </a:r>
            <a:r>
              <a:rPr lang="en-US" altLang="zh-CN" sz="1000"/>
              <a:t>08</a:t>
            </a:r>
            <a:r>
              <a:rPr lang="zh-CN" altLang="en-US" sz="1000"/>
              <a:t>：</a:t>
            </a:r>
            <a:r>
              <a:rPr lang="en-US" altLang="zh-CN" sz="1000"/>
              <a:t>52</a:t>
            </a:r>
            <a:r>
              <a:rPr lang="zh-CN" altLang="en-US" sz="1000"/>
              <a:t>出现在白石桥南地铁站</a:t>
            </a:r>
            <a:r>
              <a:rPr lang="en-US" altLang="zh-CN" sz="1000"/>
              <a:t>A</a:t>
            </a:r>
            <a:r>
              <a:rPr lang="zh-CN" altLang="en-US" sz="1000"/>
              <a:t>口附近，</a:t>
            </a:r>
            <a:r>
              <a:rPr lang="en-US" altLang="zh-CN" sz="1000"/>
              <a:t>09:00</a:t>
            </a:r>
            <a:r>
              <a:rPr lang="zh-CN" altLang="en-US" sz="1000"/>
              <a:t>出现在首体南路与车公庄西路交叉口</a:t>
            </a:r>
            <a:r>
              <a:rPr lang="en-US" altLang="zh-CN" sz="1000"/>
              <a:t>……</a:t>
            </a:r>
            <a:r>
              <a:rPr lang="zh-CN" altLang="en-US" sz="1000"/>
              <a:t>因此，我们需要的，不是在一段视频中获得每帧轨迹。而是在不同镜头中对同一身份进行检索。所以，无法利用边框重叠来确认行人轨迹。只能利用</a:t>
            </a:r>
            <a:r>
              <a:rPr lang="en-US" altLang="zh-CN" sz="1000"/>
              <a:t>ReID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/>
              <a:t>此处原为视频。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内容占位符 5"/>
          <p:cNvSpPr/>
          <p:nvPr>
            <p:ph idx="1"/>
          </p:nvPr>
        </p:nvSpPr>
        <p:spPr/>
        <p:txBody>
          <a:bodyPr/>
          <a:p>
            <a:r>
              <a:rPr lang="zh-CN" altLang="en-US"/>
              <a:t>正确的目标</a:t>
            </a:r>
            <a:endParaRPr lang="zh-CN" altLang="en-US"/>
          </a:p>
          <a:p>
            <a:pPr lvl="1"/>
            <a:r>
              <a:rPr lang="zh-CN" altLang="en-US"/>
              <a:t>提高人工效率</a:t>
            </a:r>
            <a:r>
              <a:rPr lang="en-US" altLang="zh-CN"/>
              <a:t>90%</a:t>
            </a:r>
            <a:endParaRPr lang="en-US" altLang="zh-CN"/>
          </a:p>
          <a:p>
            <a:pPr lvl="1"/>
            <a:r>
              <a:rPr lang="zh-CN" altLang="en-US"/>
              <a:t>提高人工效率</a:t>
            </a:r>
            <a:r>
              <a:rPr lang="en-US" altLang="zh-CN"/>
              <a:t>50%</a:t>
            </a:r>
            <a:endParaRPr lang="en-US" altLang="zh-CN"/>
          </a:p>
          <a:p>
            <a:pPr lvl="1"/>
            <a:r>
              <a:rPr lang="zh-CN" altLang="en-US"/>
              <a:t>提高人工效率</a:t>
            </a:r>
            <a:r>
              <a:rPr lang="en-US" altLang="zh-CN"/>
              <a:t>20%</a:t>
            </a:r>
            <a:endParaRPr lang="en-US" altLang="zh-CN"/>
          </a:p>
          <a:p>
            <a:pPr lvl="1"/>
            <a:r>
              <a:rPr lang="zh-CN" altLang="en-US"/>
              <a:t>人工效率到底是多少？如果答案是不知道，说明根本没有考虑实际用途、实际场景。</a:t>
            </a:r>
            <a:endParaRPr lang="en-US" altLang="zh-CN"/>
          </a:p>
          <a:p>
            <a:pPr lvl="0"/>
            <a:r>
              <a:rPr lang="zh-CN" altLang="en-US"/>
              <a:t>错误的目标：沿用做学术的老套路、刷数据集</a:t>
            </a:r>
            <a:endParaRPr lang="zh-CN" altLang="en-US"/>
          </a:p>
          <a:p>
            <a:pPr lvl="1"/>
            <a:r>
              <a:rPr lang="en-US" altLang="zh-CN"/>
              <a:t>AP=0.58</a:t>
            </a:r>
            <a:endParaRPr lang="en-US" altLang="zh-CN"/>
          </a:p>
          <a:p>
            <a:pPr lvl="1"/>
            <a:r>
              <a:rPr lang="en-US" altLang="zh-CN"/>
              <a:t>IoU=0.98</a:t>
            </a:r>
            <a:endParaRPr lang="en-US" altLang="zh-CN"/>
          </a:p>
          <a:p>
            <a:pPr lvl="1"/>
            <a:r>
              <a:rPr lang="zh-CN" altLang="en-US"/>
              <a:t>召回率</a:t>
            </a:r>
            <a:r>
              <a:rPr lang="en-US" altLang="zh-CN"/>
              <a:t>=0.77</a:t>
            </a:r>
            <a:endParaRPr lang="en-US" altLang="zh-CN"/>
          </a:p>
          <a:p>
            <a:pPr lvl="0"/>
            <a:r>
              <a:rPr lang="zh-CN" altLang="en-US"/>
              <a:t>为什么？</a:t>
            </a:r>
            <a:endParaRPr lang="zh-CN" altLang="en-US"/>
          </a:p>
          <a:p>
            <a:pPr lvl="1"/>
            <a:r>
              <a:rPr lang="zh-CN" altLang="en-US"/>
              <a:t>实战中必须有人工交互干预，必须保证</a:t>
            </a:r>
            <a:r>
              <a:rPr lang="en-US" altLang="zh-CN"/>
              <a:t>100%</a:t>
            </a:r>
            <a:r>
              <a:rPr lang="zh-CN" altLang="en-US"/>
              <a:t>正确。</a:t>
            </a:r>
            <a:endParaRPr lang="zh-CN" altLang="en-US"/>
          </a:p>
          <a:p>
            <a:pPr lvl="1"/>
            <a:r>
              <a:rPr lang="zh-CN" altLang="en-US"/>
              <a:t>做学术，无人工干预，输入视频输出最终结果。</a:t>
            </a:r>
            <a:endParaRPr lang="zh-CN" altLang="en-US"/>
          </a:p>
          <a:p>
            <a:pPr lvl="1"/>
            <a:r>
              <a:rPr lang="zh-CN" altLang="en-US"/>
              <a:t>学术是实战的中间环节。不过也是必不可少的。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29665" y="2213610"/>
            <a:ext cx="9932670" cy="1612900"/>
          </a:xfrm>
        </p:spPr>
        <p:txBody>
          <a:bodyPr>
            <a:noAutofit/>
          </a:bodyPr>
          <a:p>
            <a:r>
              <a:rPr lang="zh-CN" altLang="en-US" sz="4400"/>
              <a:t>相同身份得分高，不同身份也在</a:t>
            </a:r>
            <a:r>
              <a:rPr lang="en-US" altLang="zh-CN" sz="4400"/>
              <a:t>0.9</a:t>
            </a:r>
            <a:r>
              <a:rPr lang="zh-CN" altLang="en-US" sz="4400"/>
              <a:t>以上</a:t>
            </a:r>
            <a:br>
              <a:rPr lang="zh-CN" altLang="en-US" sz="4400"/>
            </a:br>
            <a:r>
              <a:rPr lang="zh-CN" altLang="en-US" sz="4400"/>
              <a:t>不同视频，相同身份得分接近</a:t>
            </a:r>
            <a:r>
              <a:rPr lang="en-US" altLang="zh-CN" sz="4400"/>
              <a:t>0</a:t>
            </a:r>
            <a:endParaRPr lang="en-US" altLang="zh-CN" sz="4400"/>
          </a:p>
        </p:txBody>
      </p:sp>
      <p:sp>
        <p:nvSpPr>
          <p:cNvPr id="5" name="文本框 4"/>
          <p:cNvSpPr txBox="1"/>
          <p:nvPr/>
        </p:nvSpPr>
        <p:spPr>
          <a:xfrm>
            <a:off x="2272665" y="4046855"/>
            <a:ext cx="741680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现有证据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更多证据</a:t>
            </a:r>
            <a:endParaRPr lang="zh-CN" altLang="en-US"/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同一部电影，从不同平台，不同清晰度，同一时间处截取画面，得分如何？已验证，确实如此，得分接近</a:t>
            </a:r>
            <a:r>
              <a:rPr lang="en-US" altLang="zh-CN"/>
              <a:t>0</a:t>
            </a:r>
            <a:r>
              <a:rPr lang="zh-CN" altLang="en-US"/>
              <a:t>。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ongbo_c1s1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89075"/>
          </a:xfrm>
          <a:prstGeom prst="rect">
            <a:avLst/>
          </a:prstGeom>
        </p:spPr>
      </p:pic>
      <p:pic>
        <p:nvPicPr>
          <p:cNvPr id="5" name="图片 4" descr="shixi_c1s1_similarity_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890"/>
            <a:ext cx="12192000" cy="1488440"/>
          </a:xfrm>
          <a:prstGeom prst="rect">
            <a:avLst/>
          </a:prstGeom>
        </p:spPr>
      </p:pic>
      <p:pic>
        <p:nvPicPr>
          <p:cNvPr id="6" name="图片 5" descr="yaojiu_c1s1_similarity_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3145"/>
            <a:ext cx="12192000" cy="1493520"/>
          </a:xfrm>
          <a:prstGeom prst="rect">
            <a:avLst/>
          </a:prstGeom>
        </p:spPr>
      </p:pic>
      <p:pic>
        <p:nvPicPr>
          <p:cNvPr id="7" name="图片 6" descr="yaojiu_c1s2_similarity_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4480"/>
            <a:ext cx="12192000" cy="14935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391025" y="0"/>
            <a:ext cx="76200" cy="6858000"/>
          </a:xfrm>
          <a:prstGeom prst="rect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通过手动改变同一帧图像，能够得到近似</a:t>
            </a:r>
            <a:r>
              <a:rPr lang="en-US" altLang="zh-CN"/>
              <a:t>0</a:t>
            </a:r>
            <a:r>
              <a:rPr lang="zh-CN" altLang="en-US"/>
              <a:t>的得分？如果可以，便发现了得分降低的原因。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convert 000001.jpg -quality 70 000003.jpg</a:t>
            </a:r>
            <a:endParaRPr lang="en-US"/>
          </a:p>
          <a:p>
            <a:r>
              <a:rPr lang="zh-CN" altLang="en-US"/>
              <a:t>确实得分接近</a:t>
            </a:r>
            <a:r>
              <a:rPr lang="en-US" altLang="zh-CN"/>
              <a:t>0</a:t>
            </a:r>
            <a:endParaRPr lang="en-US" altLang="zh-CN"/>
          </a:p>
          <a:p>
            <a:r>
              <a:rPr lang="zh-CN" altLang="en-US"/>
              <a:t>结论：即使简单将图像质量变为原先的</a:t>
            </a:r>
            <a:r>
              <a:rPr lang="en-US" altLang="zh-CN"/>
              <a:t>70%</a:t>
            </a:r>
            <a:r>
              <a:rPr lang="zh-CN" altLang="en-US"/>
              <a:t>，</a:t>
            </a:r>
            <a:r>
              <a:rPr lang="en-US" altLang="zh-CN"/>
              <a:t>reid</a:t>
            </a:r>
            <a:r>
              <a:rPr lang="zh-CN" altLang="en-US"/>
              <a:t>相似度便可从</a:t>
            </a:r>
            <a:r>
              <a:rPr lang="en-US" altLang="zh-CN"/>
              <a:t>1</a:t>
            </a:r>
            <a:r>
              <a:rPr lang="zh-CN" altLang="en-US"/>
              <a:t>变为</a:t>
            </a:r>
            <a:r>
              <a:rPr lang="en-US" altLang="zh-CN"/>
              <a:t>0.</a:t>
            </a:r>
            <a:endParaRPr lang="en-US" altLang="zh-CN"/>
          </a:p>
          <a:p>
            <a:r>
              <a:rPr lang="zh-CN" altLang="en-US"/>
              <a:t>新问题：现有</a:t>
            </a:r>
            <a:r>
              <a:rPr lang="en-US" altLang="zh-CN"/>
              <a:t>reid</a:t>
            </a:r>
            <a:r>
              <a:rPr lang="zh-CN" altLang="en-US"/>
              <a:t>模型，有多少可以抵抗这种变化？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MGN</a:t>
            </a:r>
            <a:r>
              <a:rPr lang="en-US" altLang="zh-CN">
                <a:sym typeface="+mn-ea"/>
              </a:rPr>
              <a:t>(market1501, R50, IBN)</a:t>
            </a:r>
            <a:r>
              <a:rPr lang="zh-CN" altLang="en-US">
                <a:sym typeface="+mn-ea"/>
              </a:rPr>
              <a:t>：不行。</a:t>
            </a:r>
            <a:endParaRPr lang="zh-CN" altLang="en-US"/>
          </a:p>
          <a:p>
            <a:pPr lvl="1"/>
            <a:r>
              <a:rPr lang="zh-CN" altLang="en-US"/>
              <a:t>BoT</a:t>
            </a:r>
            <a:r>
              <a:rPr lang="en-US" altLang="zh-CN"/>
              <a:t>(Bag of Tricks, duke, R101, IBN): </a:t>
            </a:r>
            <a:r>
              <a:rPr lang="zh-CN" altLang="en-US"/>
              <a:t>成功！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必须有人工干预交互这一步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累积误差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ReID</a:t>
            </a:r>
            <a:r>
              <a:rPr lang="zh-CN" altLang="en-US"/>
              <a:t>问题设置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23890" y="2378710"/>
            <a:ext cx="3738880" cy="2853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待检索的行人图像</a:t>
            </a:r>
            <a:b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</a:br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ID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：</a:t>
            </a:r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0004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5055" y="1722120"/>
            <a:ext cx="1868805" cy="37941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ReID</a:t>
            </a:r>
            <a:r>
              <a:rPr lang="zh-CN" altLang="en-US"/>
              <a:t>问题设置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2100580"/>
            <a:ext cx="775970" cy="1216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待检索的行人图像</a:t>
            </a:r>
            <a:br>
              <a:rPr lang="zh-CN" altLang="en-US" sz="1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</a:br>
            <a:r>
              <a:rPr lang="en-US" altLang="zh-CN" sz="1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ID</a:t>
            </a:r>
            <a:r>
              <a:rPr lang="zh-CN" altLang="en-US" sz="1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：</a:t>
            </a:r>
            <a:r>
              <a:rPr lang="en-US" altLang="zh-CN" sz="1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0004</a:t>
            </a:r>
            <a:endParaRPr lang="en-US" altLang="zh-CN" sz="1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4" name="图片 3" descr="0004_c1s6_016996_00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17240"/>
            <a:ext cx="12192000" cy="1496060"/>
          </a:xfrm>
          <a:prstGeom prst="rect">
            <a:avLst/>
          </a:prstGeom>
        </p:spPr>
      </p:pic>
      <p:sp>
        <p:nvSpPr>
          <p:cNvPr id="3" name="右大括号 2"/>
          <p:cNvSpPr/>
          <p:nvPr/>
        </p:nvSpPr>
        <p:spPr>
          <a:xfrm rot="16200000">
            <a:off x="6504305" y="-2414905"/>
            <a:ext cx="335280" cy="10850245"/>
          </a:xfrm>
          <a:prstGeom prst="rightBrace">
            <a:avLst>
              <a:gd name="adj1" fmla="val 71969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54120" y="2428875"/>
            <a:ext cx="5835015" cy="4203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/>
              <a:t>检索到的若干行人</a:t>
            </a:r>
            <a:endParaRPr lang="zh-CN" altLang="en-US" sz="1400"/>
          </a:p>
        </p:txBody>
      </p:sp>
      <p:sp>
        <p:nvSpPr>
          <p:cNvPr id="9" name="矩形 8"/>
          <p:cNvSpPr/>
          <p:nvPr/>
        </p:nvSpPr>
        <p:spPr>
          <a:xfrm>
            <a:off x="1128395" y="4775200"/>
            <a:ext cx="732155" cy="2679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rgbClr val="FF0000"/>
                </a:solidFill>
              </a:rPr>
              <a:t>检索成功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5488305" y="6304280"/>
            <a:ext cx="1144270" cy="5530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更多示例</a:t>
            </a:r>
            <a:endParaRPr lang="zh-CN" altLang="en-US"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不论最终结果是否准确（即是否找到对应</a:t>
            </a:r>
            <a:r>
              <a:rPr lang="en-US" altLang="zh-CN"/>
              <a:t>ID</a:t>
            </a:r>
            <a:r>
              <a:rPr lang="zh-CN" altLang="en-US"/>
              <a:t>），仅从表观上讲，当得分大于</a:t>
            </a:r>
            <a:r>
              <a:rPr lang="en-US" altLang="zh-CN"/>
              <a:t>0.95</a:t>
            </a:r>
            <a:r>
              <a:rPr lang="zh-CN" altLang="en-US"/>
              <a:t>时，表观确实是非常相似的。</a:t>
            </a:r>
            <a:endParaRPr lang="zh-CN" altLang="en-US"/>
          </a:p>
          <a:p>
            <a:r>
              <a:rPr lang="zh-CN" altLang="en-US"/>
              <a:t>仅依赖表观相似性不能确定人的身份（无论设何种阈值，总能找出反例）。在给出每个行人子图的同时，还需要给出：</a:t>
            </a:r>
            <a:endParaRPr lang="zh-CN" altLang="en-US"/>
          </a:p>
          <a:p>
            <a:pPr lvl="1"/>
            <a:r>
              <a:rPr lang="zh-CN" altLang="en-US"/>
              <a:t>该画面的时间戳</a:t>
            </a:r>
            <a:endParaRPr lang="zh-CN" altLang="en-US"/>
          </a:p>
          <a:p>
            <a:pPr lvl="1"/>
            <a:r>
              <a:rPr lang="zh-CN" altLang="en-US"/>
              <a:t>该画面对应的相机</a:t>
            </a:r>
            <a:r>
              <a:rPr lang="en-US" altLang="zh-CN"/>
              <a:t>ID</a:t>
            </a:r>
            <a:endParaRPr lang="en-US" altLang="zh-CN"/>
          </a:p>
          <a:p>
            <a:pPr lvl="1"/>
            <a:r>
              <a:rPr lang="zh-CN" altLang="en-US"/>
              <a:t>该行人边框的归一化坐标（Center-XYWH 格式）：参考</a:t>
            </a:r>
            <a:r>
              <a:rPr lang="en-US" altLang="zh-CN"/>
              <a:t>YOLO</a:t>
            </a:r>
            <a:r>
              <a:rPr lang="zh-CN" altLang="en-US"/>
              <a:t>规范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MOT16_c4s001_similarity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72310"/>
            <a:ext cx="12192000" cy="151066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297430" y="5394325"/>
            <a:ext cx="5835015" cy="4203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/>
              <a:t>如果具有时空连续性，同一人的表观非常相似，</a:t>
            </a:r>
            <a:r>
              <a:rPr lang="en-US" altLang="zh-CN" sz="1400"/>
              <a:t>ReID</a:t>
            </a:r>
            <a:r>
              <a:rPr lang="zh-CN" altLang="en-US" sz="1400"/>
              <a:t>得分非常高。</a:t>
            </a:r>
            <a:endParaRPr lang="zh-CN" altLang="en-US" sz="14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ReID</a:t>
            </a:r>
            <a:r>
              <a:rPr lang="zh-CN" altLang="en-US"/>
              <a:t>发挥作用的限定条件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44065" y="3763645"/>
            <a:ext cx="8129905" cy="4203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2000"/>
              <a:t>当不存在遮挡，无视角、姿态、衣着变化时，表观将非常相似，</a:t>
            </a:r>
            <a:r>
              <a:rPr lang="en-US" altLang="zh-CN" sz="2000"/>
              <a:t>ReID</a:t>
            </a:r>
            <a:r>
              <a:rPr lang="zh-CN" altLang="en-US" sz="2000"/>
              <a:t>得分非常高（</a:t>
            </a:r>
            <a:r>
              <a:rPr lang="en-US" altLang="zh-CN" sz="2000"/>
              <a:t>0.98</a:t>
            </a:r>
            <a:r>
              <a:rPr lang="zh-CN" altLang="en-US" sz="2000"/>
              <a:t>）。</a:t>
            </a:r>
            <a:endParaRPr lang="zh-CN" alt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将阈值设为</a:t>
            </a:r>
            <a:r>
              <a:rPr lang="en-US" altLang="zh-CN"/>
              <a:t>0.98</a:t>
            </a:r>
            <a:r>
              <a:rPr lang="zh-CN" altLang="en-US"/>
              <a:t>，能达到多高的准确率？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python demo/analyze_pairwise_similarity.py </a:t>
            </a:r>
            <a:endParaRPr lang="zh-CN" altLang="en-US"/>
          </a:p>
          <a:p>
            <a:r>
              <a:rPr lang="zh-CN" altLang="en-US"/>
              <a:t>🔄 正在加载特征...</a:t>
            </a:r>
            <a:endParaRPr lang="zh-CN" altLang="en-US"/>
          </a:p>
          <a:p>
            <a:r>
              <a:rPr lang="zh-CN" altLang="en-US"/>
              <a:t>✅ 共加载 47577 条特征</a:t>
            </a:r>
            <a:endParaRPr lang="zh-CN" altLang="en-US"/>
          </a:p>
          <a:p>
            <a:r>
              <a:rPr lang="zh-CN" altLang="en-US"/>
              <a:t>⚡ 使用 GPU 加速计算相似度矩阵...</a:t>
            </a:r>
            <a:endParaRPr lang="zh-CN" altLang="en-US"/>
          </a:p>
          <a:p>
            <a:r>
              <a:rPr lang="zh-CN" altLang="en-US"/>
              <a:t>✅ 相似度矩阵计算完成</a:t>
            </a:r>
            <a:endParaRPr lang="zh-CN" altLang="en-US"/>
          </a:p>
          <a:p>
            <a:r>
              <a:rPr lang="zh-CN" altLang="en-US"/>
              <a:t>🔍 构建身份匹配矩阵...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📊 统计结果 (阈值 &gt; 0.98)：</a:t>
            </a:r>
            <a:endParaRPr lang="zh-CN" altLang="en-US"/>
          </a:p>
          <a:p>
            <a:r>
              <a:rPr lang="zh-CN" altLang="en-US"/>
              <a:t>1. 相似度高 且 同一身份 ：4287856</a:t>
            </a:r>
            <a:endParaRPr lang="zh-CN" altLang="en-US"/>
          </a:p>
          <a:p>
            <a:r>
              <a:rPr lang="zh-CN" altLang="en-US"/>
              <a:t>2. 相似度高 且 不同身份 ：8894</a:t>
            </a:r>
            <a:endParaRPr lang="zh-CN" altLang="en-US"/>
          </a:p>
          <a:p>
            <a:r>
              <a:rPr lang="zh-CN" altLang="en-US"/>
              <a:t>3. 相似度低 且 同一身份 ：33990748</a:t>
            </a:r>
            <a:endParaRPr lang="zh-CN" altLang="en-US"/>
          </a:p>
          <a:p>
            <a:r>
              <a:rPr lang="zh-CN" altLang="en-US"/>
              <a:t>4. 相似度低 且 不同身份 ：2225235854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10600" y="30657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一阶召回率：约</a:t>
            </a:r>
            <a:r>
              <a:rPr lang="en-US" altLang="zh-CN"/>
              <a:t>10%</a:t>
            </a:r>
            <a:br>
              <a:rPr lang="en-US" altLang="zh-CN"/>
            </a:br>
            <a:r>
              <a:rPr lang="zh-CN" altLang="en-US"/>
              <a:t>误报率：千分之</a:t>
            </a:r>
            <a:r>
              <a:rPr lang="en-US" altLang="zh-CN"/>
              <a:t>2</a:t>
            </a:r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间接传递相似规则：</a:t>
            </a:r>
            <a:r>
              <a:rPr lang="en-US" altLang="zh-CN"/>
              <a:t>AB</a:t>
            </a:r>
            <a:r>
              <a:rPr lang="zh-CN" altLang="en-US"/>
              <a:t>相似、</a:t>
            </a:r>
            <a:r>
              <a:rPr lang="en-US" altLang="zh-CN"/>
              <a:t>BC</a:t>
            </a:r>
            <a:r>
              <a:rPr lang="zh-CN" altLang="en-US"/>
              <a:t>相似，即使</a:t>
            </a:r>
            <a:r>
              <a:rPr lang="en-US" altLang="zh-CN"/>
              <a:t>AC</a:t>
            </a:r>
            <a:r>
              <a:rPr lang="zh-CN" altLang="en-US"/>
              <a:t>不相似，也将</a:t>
            </a:r>
            <a:r>
              <a:rPr lang="en-US" altLang="zh-CN"/>
              <a:t>AC</a:t>
            </a:r>
            <a:r>
              <a:rPr lang="zh-CN" altLang="en-US"/>
              <a:t>视作同一身份。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</p:nvPr>
        </p:nvGraphicFramePr>
        <p:xfrm>
          <a:off x="1321435" y="1371600"/>
          <a:ext cx="4997450" cy="5059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2908"/>
                <a:gridCol w="832909"/>
                <a:gridCol w="832908"/>
                <a:gridCol w="832908"/>
                <a:gridCol w="832909"/>
                <a:gridCol w="832908"/>
              </a:tblGrid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962140" y="1371600"/>
          <a:ext cx="4997450" cy="5059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2908"/>
                <a:gridCol w="832909"/>
                <a:gridCol w="832908"/>
                <a:gridCol w="832908"/>
                <a:gridCol w="832909"/>
                <a:gridCol w="832908"/>
              </a:tblGrid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0.91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2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0.91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0.98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3051</Words>
  <Application>WPS 演示</Application>
  <PresentationFormat>宽屏</PresentationFormat>
  <Paragraphs>326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Arial</vt:lpstr>
      <vt:lpstr>宋体</vt:lpstr>
      <vt:lpstr>Wingdings</vt:lpstr>
      <vt:lpstr>Calibri Light</vt:lpstr>
      <vt:lpstr>方正书宋_GBK</vt:lpstr>
      <vt:lpstr>微软雅黑</vt:lpstr>
      <vt:lpstr>宋体</vt:lpstr>
      <vt:lpstr>Arial Unicode MS</vt:lpstr>
      <vt:lpstr>Calibri</vt:lpstr>
      <vt:lpstr>Trebuchet MS</vt:lpstr>
      <vt:lpstr>Inter</vt:lpstr>
      <vt:lpstr>国标仿宋</vt:lpstr>
      <vt:lpstr>Symbola</vt:lpstr>
      <vt:lpstr>WPS</vt:lpstr>
      <vt:lpstr>ReID问题分析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问题分析-遮挡</vt:lpstr>
      <vt:lpstr>问题分析-视角变化</vt:lpstr>
      <vt:lpstr>问题分析-姿态变化</vt:lpstr>
      <vt:lpstr>问题分析-衣着变化</vt:lpstr>
      <vt:lpstr>PowerPoint 演示文稿</vt:lpstr>
      <vt:lpstr>PowerPoint 演示文稿</vt:lpstr>
      <vt:lpstr>在一段连续的视频中，同一身份的行人，与标准图相比，其reid得分会经历怎样的变化？</vt:lpstr>
      <vt:lpstr>在一段连续的视频中，同一身份的行人，与标准图相比，其reid得分会经历怎样的变化？</vt:lpstr>
      <vt:lpstr>在一段连续的视频中，同一身份的行人，与标准图相比，其reid得分会经历怎样的变化？</vt:lpstr>
      <vt:lpstr>在一段连续的视频中，同一身份的行人，与标准图相比，其reid得分会经历怎样的变化？</vt:lpstr>
      <vt:lpstr>仅利用AI实现全自动追踪是不现实的</vt:lpstr>
      <vt:lpstr>PowerPoint 演示文稿</vt:lpstr>
      <vt:lpstr>PowerPoint 演示文稿</vt:lpstr>
      <vt:lpstr>数据</vt:lpstr>
      <vt:lpstr>分析</vt:lpstr>
      <vt:lpstr>PowerPoint 演示文稿</vt:lpstr>
      <vt:lpstr>PowerPoint 演示文稿</vt:lpstr>
      <vt:lpstr>相同身份得分高，不同身份也在0.9以上 不同视频，相同身份得分接近0</vt:lpstr>
      <vt:lpstr>PowerPoint 演示文稿</vt:lpstr>
      <vt:lpstr>PowerPoint 演示文稿</vt:lpstr>
      <vt:lpstr>PowerPoint 演示文稿</vt:lpstr>
      <vt:lpstr>通过手动改变同一帧图像，能够得到近似0的得分？如果可以，便发现了得分降低的原因。</vt:lpstr>
      <vt:lpstr>必须有人工干预交互这一步</vt:lpstr>
      <vt:lpstr>ReID问题设置</vt:lpstr>
      <vt:lpstr>ReID问题设置</vt:lpstr>
      <vt:lpstr>结论</vt:lpstr>
      <vt:lpstr>ReID发挥作用的限定条件</vt:lpstr>
      <vt:lpstr>将阈值设为0.98，能达到多高的准确率？</vt:lpstr>
      <vt:lpstr>间接传递相似规则：AB相似、BC相似，即使AC不相似，也将AC视作同一身份。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moonlet</cp:lastModifiedBy>
  <cp:revision>171</cp:revision>
  <dcterms:created xsi:type="dcterms:W3CDTF">2025-06-26T00:45:57Z</dcterms:created>
  <dcterms:modified xsi:type="dcterms:W3CDTF">2025-06-26T00:45:57Z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2052-12.8.2.1119</vt:lpwstr>
  </property>
  <property fmtid="{D5CDD505-2E9C-101B-9397-08002B2CF9AE}" pid="3" name="ICV">
    <vt:lpwstr>860326A2D0EDA89B943046686BC87B95_41</vt:lpwstr>
  </property>
</Properties>
</file>