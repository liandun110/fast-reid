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3"/>
  </p:notesMasterIdLst>
  <p:sldIdLst>
    <p:sldId id="264" r:id="rId3"/>
    <p:sldId id="266" r:id="rId4"/>
    <p:sldId id="265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u="none" kern="1200" baseline="0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+mn-cs"/>
      </a:defRPr>
    </a:lvl1pPr>
    <a:lvl2pPr marL="742950" lvl="1" indent="-28575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2pPr>
    <a:lvl3pPr marL="1143000" lvl="2" indent="-22860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3pPr>
    <a:lvl4pPr marL="1600200" lvl="3" indent="-22860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4pPr>
    <a:lvl5pPr marL="2057400" lvl="4" indent="-22860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5pPr>
    <a:lvl6pPr marL="2286000" lvl="5" indent="-22860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6pPr>
    <a:lvl7pPr marL="2743200" lvl="6" indent="-22860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7pPr>
    <a:lvl8pPr marL="3200400" lvl="7" indent="-22860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8pPr>
    <a:lvl9pPr marL="3657600" lvl="8" indent="-22860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6"/>
    <p:restoredTop sz="100000"/>
  </p:normalViewPr>
  <p:slideViewPr>
    <p:cSldViewPr showGuides="1">
      <p:cViewPr varScale="1">
        <p:scale>
          <a:sx n="108" d="100"/>
          <a:sy n="108" d="100"/>
        </p:scale>
        <p:origin x="72" y="88"/>
      </p:cViewPr>
      <p:guideLst>
        <p:guide orient="horz" pos="2164"/>
        <p:guide pos="3839"/>
      </p:guideLst>
    </p:cSldViewPr>
  </p:slideViewPr>
  <p:outlineViewPr>
    <p:cViewPr>
      <p:scale>
        <a:sx n="85" d="100"/>
        <a:sy n="8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幻灯片图像占位符 2049"/>
          <p:cNvSpPr>
            <a:spLocks noGrp="1" noRot="1" noChangeAspect="1"/>
          </p:cNvSpPr>
          <p:nvPr>
            <p:ph type="sldImg"/>
          </p:nvPr>
        </p:nvSpPr>
        <p:spPr>
          <a:xfrm>
            <a:off x="-17003712" y="-11796712"/>
            <a:ext cx="22209125" cy="1249203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5" name="文本占位符 2050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4813" cy="41132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lvl="0"/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u="none" kern="1200" baseline="0">
        <a:solidFill>
          <a:srgbClr val="000000"/>
        </a:solidFill>
        <a:latin typeface="Times New Roman" panose="02020603050405020304" pitchFamily="16" charset="0"/>
        <a:ea typeface="宋体" panose="02010600030101010101" pitchFamily="2" charset="-122"/>
      </a:defRPr>
    </a:lvl1pPr>
    <a:lvl2pPr marL="742950" lvl="1" indent="-28575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u="none" kern="1200" baseline="0">
        <a:solidFill>
          <a:srgbClr val="000000"/>
        </a:solidFill>
        <a:latin typeface="Times New Roman" panose="02020603050405020304" pitchFamily="16" charset="0"/>
        <a:ea typeface="宋体" panose="02010600030101010101" pitchFamily="2" charset="-122"/>
      </a:defRPr>
    </a:lvl2pPr>
    <a:lvl3pPr marL="1143000" lvl="2" indent="-22860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u="none" kern="1200" baseline="0">
        <a:solidFill>
          <a:srgbClr val="000000"/>
        </a:solidFill>
        <a:latin typeface="Times New Roman" panose="02020603050405020304" pitchFamily="16" charset="0"/>
        <a:ea typeface="宋体" panose="02010600030101010101" pitchFamily="2" charset="-122"/>
      </a:defRPr>
    </a:lvl3pPr>
    <a:lvl4pPr marL="1600200" lvl="3" indent="-22860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u="none" kern="1200" baseline="0">
        <a:solidFill>
          <a:srgbClr val="000000"/>
        </a:solidFill>
        <a:latin typeface="Times New Roman" panose="02020603050405020304" pitchFamily="16" charset="0"/>
        <a:ea typeface="宋体" panose="02010600030101010101" pitchFamily="2" charset="-122"/>
      </a:defRPr>
    </a:lvl4pPr>
    <a:lvl5pPr marL="2057400" lvl="4" indent="-22860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u="none" kern="1200" baseline="0">
        <a:solidFill>
          <a:srgbClr val="000000"/>
        </a:solidFill>
        <a:latin typeface="Times New Roman" panose="02020603050405020304" pitchFamily="16" charset="0"/>
        <a:ea typeface="宋体" panose="02010600030101010101" pitchFamily="2" charset="-122"/>
      </a:defRPr>
    </a:lvl5pPr>
    <a:lvl6pPr marL="2286000" lvl="5" indent="-22860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u="none" kern="1200" baseline="0">
        <a:solidFill>
          <a:srgbClr val="000000"/>
        </a:solidFill>
        <a:latin typeface="Times New Roman" panose="02020603050405020304" pitchFamily="16" charset="0"/>
        <a:ea typeface="宋体" panose="02010600030101010101" pitchFamily="2" charset="-122"/>
      </a:defRPr>
    </a:lvl6pPr>
    <a:lvl7pPr marL="2743200" lvl="6" indent="-22860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u="none" kern="1200" baseline="0">
        <a:solidFill>
          <a:srgbClr val="000000"/>
        </a:solidFill>
        <a:latin typeface="Times New Roman" panose="02020603050405020304" pitchFamily="16" charset="0"/>
        <a:ea typeface="宋体" panose="02010600030101010101" pitchFamily="2" charset="-122"/>
      </a:defRPr>
    </a:lvl7pPr>
    <a:lvl8pPr marL="3200400" lvl="7" indent="-22860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u="none" kern="1200" baseline="0">
        <a:solidFill>
          <a:srgbClr val="000000"/>
        </a:solidFill>
        <a:latin typeface="Times New Roman" panose="02020603050405020304" pitchFamily="16" charset="0"/>
        <a:ea typeface="宋体" panose="02010600030101010101" pitchFamily="2" charset="-122"/>
      </a:defRPr>
    </a:lvl8pPr>
    <a:lvl9pPr marL="3657600" lvl="8" indent="-22860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u="none" kern="1200" baseline="0">
        <a:solidFill>
          <a:srgbClr val="000000"/>
        </a:solidFill>
        <a:latin typeface="Times New Roman" panose="02020603050405020304" pitchFamily="16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7003713" y="-11796713"/>
            <a:ext cx="22209126" cy="12492038"/>
          </a:xfrm>
        </p:spPr>
      </p:sp>
      <p:sp>
        <p:nvSpPr>
          <p:cNvPr id="5122" name="文本占位符 2"/>
          <p:cNvSpPr>
            <a:spLocks noGrp="1"/>
          </p:cNvSpPr>
          <p:nvPr>
            <p:ph type="body"/>
          </p:nvPr>
        </p:nvSpPr>
        <p:spPr/>
        <p:txBody>
          <a:bodyPr lIns="0" tIns="0" rIns="0" bIns="0" anchor="t" anchorCtr="0"/>
          <a:lstStyle/>
          <a:p>
            <a:pPr lvl="0"/>
            <a:r>
              <a:rPr lang="zh-CN" altLang="en-US"/>
              <a:t>基于</a:t>
            </a:r>
            <a:r>
              <a:rPr lang="en-US" altLang="zh-CN"/>
              <a:t>reid</a:t>
            </a:r>
            <a:r>
              <a:rPr lang="zh-CN" altLang="en-US"/>
              <a:t>，实现跨摄像头视频中的行人精准检索与空间位置映射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5635" cy="45243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4649" y="1600200"/>
            <a:ext cx="5375635" cy="45243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7613" y="274638"/>
            <a:ext cx="2742671" cy="5849937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69018" cy="584993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5635" cy="45243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4649" y="1600200"/>
            <a:ext cx="5375635" cy="45243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7613" y="274638"/>
            <a:ext cx="2742671" cy="5849937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69018" cy="584993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zh-CN" altLang="x-none" strike="noStrike" noProof="1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US" altLang="zh-CN"/>
              <a:t>Click to edit the title text format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/>
          <a:lstStyle/>
          <a:p>
            <a:pPr lvl="0"/>
            <a:r>
              <a:rPr lang="en-US" altLang="zh-CN"/>
              <a:t>Click to edit the outline text format</a:t>
            </a:r>
          </a:p>
          <a:p>
            <a:pPr lvl="1"/>
            <a:r>
              <a:rPr lang="en-US" altLang="zh-CN"/>
              <a:t>Second Outline Level</a:t>
            </a:r>
          </a:p>
          <a:p>
            <a:pPr lvl="2"/>
            <a:r>
              <a:rPr lang="en-US" altLang="zh-CN"/>
              <a:t>Third Outline Level</a:t>
            </a:r>
          </a:p>
          <a:p>
            <a:pPr lvl="3"/>
            <a:r>
              <a:rPr lang="en-US" altLang="zh-CN"/>
              <a:t>Fourth Outline Level</a:t>
            </a:r>
          </a:p>
          <a:p>
            <a:pPr lvl="4"/>
            <a:r>
              <a:rPr lang="en-US" altLang="zh-CN"/>
              <a:t>Fifth Outline Level</a:t>
            </a:r>
          </a:p>
          <a:p>
            <a:pPr lvl="4"/>
            <a:r>
              <a:rPr lang="en-US" altLang="zh-CN"/>
              <a:t>Sixth Outline Level</a:t>
            </a:r>
          </a:p>
          <a:p>
            <a:pPr lvl="4"/>
            <a:r>
              <a:rPr lang="en-US" altLang="zh-CN"/>
              <a:t>Seventh Outline Level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3213" cy="47466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0" indent="0">
              <a:defRPr sz="1400"/>
            </a:lvl1pPr>
          </a:lstStyle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59213" cy="47466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0" indent="0" algn="ctr">
              <a:defRPr sz="1400"/>
            </a:lvl1pPr>
          </a:lstStyle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3213" cy="47466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0" indent="0" algn="r">
              <a:defRPr sz="1400"/>
            </a:lvl1pPr>
          </a:lstStyle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zh-CN" altLang="x-none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sldNum="0" hdr="0" ftr="0" dt="0"/>
  <p:txStyles>
    <p:titleStyle>
      <a:lvl1pPr marL="0" lvl="0" indent="0" algn="ctr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400" u="none" kern="1200" baseline="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u="none" kern="1200" baseline="0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2pPr>
      <a:lvl3pPr marL="1143000" lvl="2" indent="-228600" algn="l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u="none" kern="1200" baseline="0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3pPr>
      <a:lvl4pPr marL="1600200" lvl="3" indent="-228600" algn="l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u="none" kern="1200" baseline="0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4pPr>
      <a:lvl5pPr marL="2057400" lvl="4" indent="-228600" algn="l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u="none" kern="1200" baseline="0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5pPr>
      <a:lvl6pPr marL="2514600" lvl="5" indent="-228600" algn="l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u="none" kern="1200" baseline="0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6pPr>
      <a:lvl7pPr marL="2971800" lvl="6" indent="-228600" algn="l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u="none" kern="1200" baseline="0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7pPr>
      <a:lvl8pPr marL="3429000" lvl="7" indent="-228600" algn="l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u="none" kern="1200" baseline="0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8pPr>
      <a:lvl9pPr marL="3886200" lvl="8" indent="-228600" algn="l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u="none" kern="1200" baseline="0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9pPr>
    </p:bodyStyle>
    <p:otherStyle>
      <a:lvl1pPr marL="0" lvl="0" indent="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u="none" kern="1200" baseline="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2pPr>
      <a:lvl3pPr marL="1143000" lvl="2" indent="-22860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u="none" kern="1200" baseline="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3pPr>
      <a:lvl4pPr marL="1600200" lvl="3" indent="-22860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u="none" kern="1200" baseline="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4pPr>
      <a:lvl5pPr marL="2057400" lvl="4" indent="-22860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u="none" kern="1200" baseline="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-22860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u="none" kern="1200" baseline="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-22860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u="none" kern="1200" baseline="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-22860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u="none" kern="1200" baseline="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-22860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u="none" kern="1200" baseline="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US" altLang="zh-CN"/>
              <a:t>Click to edit the title text format</a:t>
            </a:r>
          </a:p>
        </p:txBody>
      </p:sp>
      <p:sp>
        <p:nvSpPr>
          <p:cNvPr id="2051" name="文本占位符 1026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/>
          <a:lstStyle/>
          <a:p>
            <a:pPr lvl="0"/>
            <a:r>
              <a:rPr lang="en-US" altLang="zh-CN"/>
              <a:t>Click to edit the outline text format</a:t>
            </a:r>
          </a:p>
          <a:p>
            <a:pPr lvl="1"/>
            <a:r>
              <a:rPr lang="en-US" altLang="zh-CN"/>
              <a:t>Second Outline Level</a:t>
            </a:r>
          </a:p>
          <a:p>
            <a:pPr lvl="2"/>
            <a:r>
              <a:rPr lang="en-US" altLang="zh-CN"/>
              <a:t>Third Outline Level</a:t>
            </a:r>
          </a:p>
          <a:p>
            <a:pPr lvl="3"/>
            <a:r>
              <a:rPr lang="en-US" altLang="zh-CN"/>
              <a:t>Fourth Outline Level</a:t>
            </a:r>
          </a:p>
          <a:p>
            <a:pPr lvl="4"/>
            <a:r>
              <a:rPr lang="en-US" altLang="zh-CN"/>
              <a:t>Fifth Outline Level</a:t>
            </a:r>
          </a:p>
          <a:p>
            <a:pPr lvl="4"/>
            <a:r>
              <a:rPr lang="en-US" altLang="zh-CN"/>
              <a:t>Sixth Outline Level</a:t>
            </a:r>
          </a:p>
          <a:p>
            <a:pPr lvl="4"/>
            <a:r>
              <a:rPr lang="en-US" altLang="zh-CN"/>
              <a:t>Seventh Outline Level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3213" cy="47466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0" indent="0">
              <a:defRPr sz="1400"/>
            </a:lvl1pPr>
          </a:lstStyle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endParaRPr lang="zh-CN" altLang="x-none" strike="noStrike" noProof="1"/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59213" cy="47466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0" indent="0" algn="ctr">
              <a:defRPr sz="1400"/>
            </a:lvl1pPr>
          </a:lstStyle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  <a:tab pos="2244725" algn="l"/>
                <a:tab pos="2695575" algn="l"/>
              </a:tabLst>
            </a:pPr>
            <a:endParaRPr lang="zh-CN" altLang="x-none" strike="noStrike" noProof="1"/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3213" cy="47466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0" indent="0" algn="r">
              <a:defRPr sz="1400"/>
            </a:lvl1pPr>
          </a:lstStyle>
          <a:p>
            <a:pPr lvl="0" defTabSz="914400" fontAlgn="base">
              <a:buNone/>
              <a:tabLst>
                <a:tab pos="0" algn="l"/>
                <a:tab pos="447675" algn="l"/>
                <a:tab pos="898525" algn="l"/>
                <a:tab pos="1346200" algn="l"/>
                <a:tab pos="1797050" algn="l"/>
              </a:tabLst>
            </a:pPr>
            <a:fld id="{9A0DB2DC-4C9A-4742-B13C-FB6460FD3503}" type="slidenum">
              <a:rPr lang="zh-CN" altLang="x-none" strike="noStrike" noProof="1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zh-CN" altLang="x-none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sldNum="0" hdr="0" ftr="0" dt="0"/>
  <p:txStyles>
    <p:titleStyle>
      <a:lvl1pPr marL="0" lvl="0" indent="0" algn="ctr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400" u="none" kern="1200" baseline="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u="none" kern="1200" baseline="0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2pPr>
      <a:lvl3pPr marL="1143000" lvl="2" indent="-228600" algn="l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u="none" kern="1200" baseline="0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3pPr>
      <a:lvl4pPr marL="1600200" lvl="3" indent="-228600" algn="l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u="none" kern="1200" baseline="0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4pPr>
      <a:lvl5pPr marL="2057400" lvl="4" indent="-228600" algn="l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u="none" kern="1200" baseline="0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5pPr>
      <a:lvl6pPr marL="2514600" lvl="5" indent="-228600" algn="l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u="none" kern="1200" baseline="0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6pPr>
      <a:lvl7pPr marL="2971800" lvl="6" indent="-228600" algn="l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u="none" kern="1200" baseline="0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7pPr>
      <a:lvl8pPr marL="3429000" lvl="7" indent="-228600" algn="l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u="none" kern="1200" baseline="0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8pPr>
      <a:lvl9pPr marL="3886200" lvl="8" indent="-228600" algn="l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u="none" kern="1200" baseline="0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9pPr>
    </p:bodyStyle>
    <p:otherStyle>
      <a:lvl1pPr marL="0" lvl="0" indent="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u="none" kern="1200" baseline="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2pPr>
      <a:lvl3pPr marL="1143000" lvl="2" indent="-22860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u="none" kern="1200" baseline="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3pPr>
      <a:lvl4pPr marL="1600200" lvl="3" indent="-22860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u="none" kern="1200" baseline="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4pPr>
      <a:lvl5pPr marL="2057400" lvl="4" indent="-22860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u="none" kern="1200" baseline="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-22860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u="none" kern="1200" baseline="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-22860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u="none" kern="1200" baseline="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-22860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u="none" kern="1200" baseline="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-228600" algn="l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u="none" kern="1200" baseline="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标题 1"/>
          <p:cNvSpPr>
            <a:spLocks noGrp="1"/>
          </p:cNvSpPr>
          <p:nvPr>
            <p:ph type="ctrTitle"/>
          </p:nvPr>
        </p:nvSpPr>
        <p:spPr/>
        <p:txBody>
          <a:bodyPr lIns="90000" tIns="46800" rIns="90000" bIns="46800" anchor="b" anchorCtr="0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Times New Roman" panose="02020603050405020304" pitchFamily="16" charset="0"/>
              <a:buNone/>
            </a:pPr>
            <a:r>
              <a:rPr lang="zh-CN" altLang="en-US" kern="1200" baseline="0" dirty="0">
                <a:latin typeface="+mn-ea"/>
                <a:ea typeface="+mn-ea"/>
                <a:cs typeface="+mj-cs"/>
              </a:rPr>
              <a:t>基于</a:t>
            </a:r>
            <a:r>
              <a:rPr lang="en-US" altLang="zh-CN" kern="1200" baseline="0" dirty="0" err="1">
                <a:latin typeface="+mn-ea"/>
                <a:ea typeface="+mn-ea"/>
                <a:cs typeface="+mj-cs"/>
              </a:rPr>
              <a:t>ReID</a:t>
            </a:r>
            <a:r>
              <a:rPr lang="zh-CN" altLang="en-US" kern="1200" baseline="0" dirty="0">
                <a:latin typeface="+mn-ea"/>
                <a:ea typeface="+mn-ea"/>
                <a:cs typeface="+mj-cs"/>
              </a:rPr>
              <a:t>的跨境追踪演示系统</a:t>
            </a:r>
            <a:br>
              <a:rPr lang="zh-CN" altLang="en-US" kern="1200" baseline="0" dirty="0">
                <a:latin typeface="+mn-ea"/>
                <a:ea typeface="+mn-ea"/>
                <a:cs typeface="+mj-cs"/>
              </a:rPr>
            </a:br>
            <a:r>
              <a:rPr lang="zh-CN" altLang="en-US" kern="1200" baseline="0" dirty="0">
                <a:latin typeface="+mn-ea"/>
                <a:ea typeface="+mn-ea"/>
                <a:cs typeface="+mj-cs"/>
              </a:rPr>
              <a:t>近期进展</a:t>
            </a:r>
          </a:p>
        </p:txBody>
      </p:sp>
      <p:sp>
        <p:nvSpPr>
          <p:cNvPr id="4098" name="副标题 2"/>
          <p:cNvSpPr>
            <a:spLocks noGrp="1"/>
          </p:cNvSpPr>
          <p:nvPr>
            <p:ph type="subTitle" idx="1"/>
          </p:nvPr>
        </p:nvSpPr>
        <p:spPr>
          <a:xfrm>
            <a:off x="1524000" y="4167188"/>
            <a:ext cx="9144000" cy="1090612"/>
          </a:xfrm>
        </p:spPr>
        <p:txBody>
          <a:bodyPr lIns="90000" tIns="46800" rIns="90000" bIns="46800" anchor="t" anchorCtr="0"/>
          <a:lstStyle/>
          <a:p>
            <a:pPr>
              <a:buClrTx/>
              <a:buSzPct val="100000"/>
              <a:buFont typeface="Times New Roman" panose="02020603050405020304" pitchFamily="16" charset="0"/>
              <a:buNone/>
            </a:pPr>
            <a:r>
              <a:rPr lang="zh-CN" altLang="en-US" sz="2400" kern="1200" baseline="0" dirty="0">
                <a:latin typeface="+mn-lt"/>
                <a:ea typeface="+mn-ea"/>
                <a:cs typeface="+mn-cs"/>
              </a:rPr>
              <a:t>李振邦</a:t>
            </a:r>
            <a:endParaRPr lang="en-US" altLang="zh-CN" sz="2400" kern="1200" baseline="0" dirty="0">
              <a:latin typeface="+mn-lt"/>
              <a:ea typeface="+mn-ea"/>
              <a:cs typeface="+mn-cs"/>
            </a:endParaRPr>
          </a:p>
          <a:p>
            <a:pPr>
              <a:buClrTx/>
              <a:buSzPct val="100000"/>
              <a:buFont typeface="Times New Roman" panose="02020603050405020304" pitchFamily="16" charset="0"/>
              <a:buNone/>
            </a:pPr>
            <a:r>
              <a:rPr lang="en-US" altLang="zh-CN" sz="2400" kern="1200" baseline="0" dirty="0">
                <a:latin typeface="+mn-lt"/>
                <a:ea typeface="+mn-ea"/>
                <a:cs typeface="+mn-cs"/>
              </a:rPr>
              <a:t>2025</a:t>
            </a:r>
            <a:r>
              <a:rPr lang="zh-CN" altLang="en-US" sz="2400" kern="1200" baseline="0" dirty="0">
                <a:latin typeface="+mn-lt"/>
                <a:ea typeface="+mn-ea"/>
                <a:cs typeface="+mn-cs"/>
              </a:rPr>
              <a:t>年</a:t>
            </a:r>
            <a:r>
              <a:rPr lang="en-US" altLang="zh-CN" sz="2400" kern="1200" baseline="0" dirty="0">
                <a:latin typeface="+mn-lt"/>
                <a:ea typeface="+mn-ea"/>
                <a:cs typeface="+mn-cs"/>
              </a:rPr>
              <a:t>7</a:t>
            </a:r>
            <a:r>
              <a:rPr lang="zh-CN" altLang="en-US" sz="2400" kern="1200" baseline="0" dirty="0">
                <a:latin typeface="+mn-lt"/>
                <a:ea typeface="+mn-ea"/>
                <a:cs typeface="+mn-cs"/>
              </a:rPr>
              <a:t>月</a:t>
            </a:r>
            <a:r>
              <a:rPr lang="en-US" altLang="zh-CN" sz="2400" kern="1200" baseline="0" dirty="0">
                <a:latin typeface="+mn-lt"/>
                <a:ea typeface="+mn-ea"/>
                <a:cs typeface="+mn-cs"/>
              </a:rPr>
              <a:t>22</a:t>
            </a:r>
            <a:r>
              <a:rPr lang="zh-CN" altLang="en-US" sz="2400" kern="1200" baseline="0" dirty="0">
                <a:latin typeface="+mn-lt"/>
                <a:ea typeface="+mn-ea"/>
                <a:cs typeface="+mn-cs"/>
              </a:rPr>
              <a:t>日</a:t>
            </a:r>
            <a:endParaRPr lang="en-US" altLang="zh-CN" sz="2400" kern="1200" baseline="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ReID</a:t>
            </a:r>
            <a:r>
              <a:rPr lang="zh-CN" altLang="en-US"/>
              <a:t>演示系统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928961"/>
            <a:ext cx="10971213" cy="4524375"/>
          </a:xfrm>
        </p:spPr>
        <p:txBody>
          <a:bodyPr/>
          <a:lstStyle/>
          <a:p>
            <a:r>
              <a:rPr lang="zh-CN" altLang="en-US" sz="2800" dirty="0">
                <a:latin typeface="+mn-ea"/>
              </a:rPr>
              <a:t>目的</a:t>
            </a:r>
            <a:r>
              <a:rPr lang="en-US" altLang="zh-CN" sz="2800" dirty="0">
                <a:latin typeface="+mn-ea"/>
              </a:rPr>
              <a:t>1</a:t>
            </a:r>
            <a:r>
              <a:rPr lang="zh-CN" altLang="en-US" sz="2800" dirty="0">
                <a:latin typeface="+mn-ea"/>
              </a:rPr>
              <a:t>：集成行人检测算法</a:t>
            </a:r>
            <a:r>
              <a:rPr lang="en-US" altLang="zh-CN" sz="2800" dirty="0">
                <a:latin typeface="+mn-ea"/>
              </a:rPr>
              <a:t>+</a:t>
            </a:r>
            <a:r>
              <a:rPr lang="en-US" altLang="zh-CN" sz="2800" dirty="0" err="1">
                <a:latin typeface="+mn-ea"/>
              </a:rPr>
              <a:t>ReID</a:t>
            </a:r>
            <a:r>
              <a:rPr lang="zh-CN" altLang="en-US" sz="2800" dirty="0">
                <a:latin typeface="+mn-ea"/>
              </a:rPr>
              <a:t>算法</a:t>
            </a:r>
            <a:r>
              <a:rPr lang="en-US" altLang="zh-CN" sz="2800" dirty="0">
                <a:latin typeface="+mn-ea"/>
              </a:rPr>
              <a:t>+</a:t>
            </a:r>
            <a:r>
              <a:rPr lang="zh-CN" altLang="en-US" sz="2800" dirty="0">
                <a:latin typeface="+mn-ea"/>
              </a:rPr>
              <a:t>空间映射算法，搭建一套可用的演示系统</a:t>
            </a:r>
            <a:endParaRPr lang="en-US" altLang="zh-CN" sz="28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+mn-ea"/>
              </a:rPr>
              <a:t>目的</a:t>
            </a:r>
            <a:r>
              <a:rPr lang="en-US" altLang="zh-CN" sz="2800" dirty="0">
                <a:latin typeface="+mn-ea"/>
              </a:rPr>
              <a:t>2</a:t>
            </a:r>
            <a:r>
              <a:rPr lang="zh-CN" altLang="en-US" sz="2800" dirty="0">
                <a:latin typeface="+mn-ea"/>
              </a:rPr>
              <a:t>：验证</a:t>
            </a:r>
            <a:r>
              <a:rPr lang="en-US" altLang="zh-CN" sz="2800" dirty="0" err="1">
                <a:latin typeface="+mn-ea"/>
              </a:rPr>
              <a:t>ReID</a:t>
            </a:r>
            <a:r>
              <a:rPr lang="zh-CN" altLang="en-US" sz="2800" dirty="0">
                <a:latin typeface="+mn-ea"/>
              </a:rPr>
              <a:t>算法的有效性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+mn-ea"/>
              </a:rPr>
              <a:t>目的</a:t>
            </a:r>
            <a:r>
              <a:rPr lang="en-US" altLang="zh-CN" sz="2800" dirty="0">
                <a:latin typeface="+mn-ea"/>
              </a:rPr>
              <a:t>3</a:t>
            </a:r>
            <a:r>
              <a:rPr lang="zh-CN" altLang="en-US" sz="2800" dirty="0">
                <a:latin typeface="+mn-ea"/>
              </a:rPr>
              <a:t>：使用真实园区监控画面，探索时空关系该如何利用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080" y="1484630"/>
            <a:ext cx="7083425" cy="5205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6" name="文本框 3"/>
          <p:cNvSpPr txBox="1"/>
          <p:nvPr/>
        </p:nvSpPr>
        <p:spPr>
          <a:xfrm>
            <a:off x="8040370" y="2636203"/>
            <a:ext cx="4098925" cy="1938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0" lvl="1" indent="0">
              <a:lnSpc>
                <a:spcPct val="150000"/>
              </a:lnSpc>
              <a:buFont typeface="Arial" panose="020B0604020202020204"/>
              <a:buChar char="◦"/>
            </a:pPr>
            <a:r>
              <a:rPr lang="zh-CN" altLang="en-US" sz="1600">
                <a:solidFill>
                  <a:srgbClr val="000000"/>
                </a:solidFill>
                <a:latin typeface="Inter"/>
                <a:ea typeface="Inter"/>
              </a:rPr>
              <a:t>支持双视频序列加载与同步浏览</a:t>
            </a:r>
          </a:p>
          <a:p>
            <a:pPr marL="0" lvl="1" indent="0">
              <a:lnSpc>
                <a:spcPct val="150000"/>
              </a:lnSpc>
              <a:buFont typeface="Arial" panose="020B0604020202020204"/>
              <a:buChar char="◦"/>
            </a:pPr>
            <a:r>
              <a:rPr lang="zh-CN" altLang="en-US" sz="1600">
                <a:solidFill>
                  <a:srgbClr val="000000"/>
                </a:solidFill>
                <a:latin typeface="Inter"/>
                <a:ea typeface="Inter"/>
              </a:rPr>
              <a:t>实现行人选择、特征提取与跨视频相似性检索</a:t>
            </a:r>
          </a:p>
          <a:p>
            <a:pPr marL="0" lvl="1" indent="0">
              <a:lnSpc>
                <a:spcPct val="150000"/>
              </a:lnSpc>
              <a:buFont typeface="Arial" panose="020B0604020202020204"/>
              <a:buChar char="◦"/>
            </a:pPr>
            <a:r>
              <a:rPr lang="zh-CN" altLang="en-US" sz="1600">
                <a:solidFill>
                  <a:srgbClr val="000000"/>
                </a:solidFill>
                <a:latin typeface="Inter"/>
                <a:ea typeface="Inter"/>
              </a:rPr>
              <a:t>通过单应性矩阵将视频中行人位置映射至物理地图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95325" y="728980"/>
            <a:ext cx="10553700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前端：监控视频加载</a:t>
            </a:r>
            <a:r>
              <a:rPr lang="en-US" altLang="zh-CN"/>
              <a:t>-</a:t>
            </a:r>
            <a:r>
              <a:rPr lang="zh-CN" altLang="en-US"/>
              <a:t>选择查询人物</a:t>
            </a:r>
            <a:r>
              <a:rPr lang="en-US" altLang="zh-CN"/>
              <a:t>-</a:t>
            </a:r>
            <a:r>
              <a:rPr lang="zh-CN" altLang="en-US"/>
              <a:t>地图展示查询人物位置</a:t>
            </a:r>
            <a:r>
              <a:rPr lang="en-US" altLang="zh-CN"/>
              <a:t>-</a:t>
            </a:r>
            <a:r>
              <a:rPr lang="zh-CN" altLang="en-US"/>
              <a:t>列出候选人物</a:t>
            </a:r>
            <a:r>
              <a:rPr lang="en-US" altLang="zh-CN"/>
              <a:t>-</a:t>
            </a:r>
            <a:r>
              <a:rPr lang="zh-CN" altLang="en-US"/>
              <a:t>地图展示候选人物轨迹</a:t>
            </a:r>
            <a:br>
              <a:rPr lang="zh-CN" altLang="en-US"/>
            </a:br>
            <a:r>
              <a:rPr lang="zh-CN" altLang="en-US"/>
              <a:t>后端：行人检测算法</a:t>
            </a:r>
            <a:r>
              <a:rPr lang="en-US" altLang="zh-CN"/>
              <a:t>-reid</a:t>
            </a:r>
            <a:r>
              <a:rPr lang="zh-CN" altLang="en-US"/>
              <a:t>特征提取算法</a:t>
            </a:r>
            <a:r>
              <a:rPr lang="en-US" altLang="zh-CN"/>
              <a:t>-</a:t>
            </a:r>
            <a:r>
              <a:rPr lang="zh-CN" altLang="en-US"/>
              <a:t>物理空间映射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94690" y="260350"/>
            <a:ext cx="58083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ReID演示系统介绍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9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"/>
            <a:ext cx="9313863" cy="6845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椭圆 2"/>
          <p:cNvSpPr/>
          <p:nvPr/>
        </p:nvSpPr>
        <p:spPr>
          <a:xfrm>
            <a:off x="2351088" y="1308100"/>
            <a:ext cx="1008063" cy="1365250"/>
          </a:xfrm>
          <a:prstGeom prst="ellipse">
            <a:avLst/>
          </a:prstGeom>
          <a:solidFill>
            <a:schemeClr val="accent1">
              <a:alpha val="0"/>
            </a:schemeClr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cxnSp>
        <p:nvCxnSpPr>
          <p:cNvPr id="4" name="直接箭头连接符 3"/>
          <p:cNvCxnSpPr>
            <a:stCxn id="3" idx="6"/>
          </p:cNvCxnSpPr>
          <p:nvPr/>
        </p:nvCxnSpPr>
        <p:spPr>
          <a:xfrm>
            <a:off x="3359150" y="1990725"/>
            <a:ext cx="6329363" cy="0"/>
          </a:xfrm>
          <a:prstGeom prst="straightConnector1">
            <a:avLst/>
          </a:prstGeom>
          <a:ln w="349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172" name="文本框 4"/>
          <p:cNvSpPr txBox="1"/>
          <p:nvPr/>
        </p:nvSpPr>
        <p:spPr>
          <a:xfrm>
            <a:off x="9840913" y="1844675"/>
            <a:ext cx="1798637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>
                <a:latin typeface="Arial" panose="020B0604020202020204" pitchFamily="34" charset="0"/>
                <a:ea typeface="+mn-ea"/>
              </a:rPr>
              <a:t>想要查询的人物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8790" y="1885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</a:pPr>
            <a:r>
              <a:rPr lang="zh-CN" altLang="en-US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ReID演示系统：选择查询人物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3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330" y="0"/>
            <a:ext cx="45656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椭圆 4"/>
          <p:cNvSpPr/>
          <p:nvPr/>
        </p:nvSpPr>
        <p:spPr>
          <a:xfrm>
            <a:off x="6588443" y="4508500"/>
            <a:ext cx="1008063" cy="1365250"/>
          </a:xfrm>
          <a:prstGeom prst="ellipse">
            <a:avLst/>
          </a:prstGeom>
          <a:solidFill>
            <a:schemeClr val="accent1">
              <a:alpha val="0"/>
            </a:schemeClr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cxnSp>
        <p:nvCxnSpPr>
          <p:cNvPr id="6" name="直接箭头连接符 5"/>
          <p:cNvCxnSpPr>
            <a:stCxn id="5" idx="6"/>
          </p:cNvCxnSpPr>
          <p:nvPr/>
        </p:nvCxnSpPr>
        <p:spPr>
          <a:xfrm>
            <a:off x="7596505" y="5191125"/>
            <a:ext cx="1101725" cy="0"/>
          </a:xfrm>
          <a:prstGeom prst="straightConnector1">
            <a:avLst/>
          </a:prstGeom>
          <a:ln w="349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196" name="文本框 6"/>
          <p:cNvSpPr txBox="1"/>
          <p:nvPr/>
        </p:nvSpPr>
        <p:spPr>
          <a:xfrm>
            <a:off x="8698230" y="4868863"/>
            <a:ext cx="1797050" cy="64611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>
                <a:latin typeface="Arial" panose="020B0604020202020204" pitchFamily="34" charset="0"/>
                <a:ea typeface="+mn-ea"/>
              </a:rPr>
              <a:t>想要查询的人物</a:t>
            </a:r>
            <a:br>
              <a:rPr lang="zh-CN" altLang="en-US">
                <a:latin typeface="Arial" panose="020B0604020202020204" pitchFamily="34" charset="0"/>
                <a:ea typeface="+mn-ea"/>
              </a:rPr>
            </a:br>
            <a:r>
              <a:rPr lang="zh-CN" altLang="en-US">
                <a:latin typeface="Arial" panose="020B0604020202020204" pitchFamily="34" charset="0"/>
                <a:ea typeface="+mn-ea"/>
              </a:rPr>
              <a:t>在地图中的位置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5280" y="1885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</a:pPr>
            <a:r>
              <a:rPr lang="zh-CN" altLang="en-US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ReID演示系统：在地图上展示查询人物位置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"/>
            <a:ext cx="9313863" cy="6845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椭圆 2"/>
          <p:cNvSpPr/>
          <p:nvPr/>
        </p:nvSpPr>
        <p:spPr>
          <a:xfrm>
            <a:off x="1487488" y="4981575"/>
            <a:ext cx="7450138" cy="1203325"/>
          </a:xfrm>
          <a:prstGeom prst="ellipse">
            <a:avLst/>
          </a:prstGeom>
          <a:solidFill>
            <a:schemeClr val="accent1">
              <a:alpha val="0"/>
            </a:schemeClr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cxnSp>
        <p:nvCxnSpPr>
          <p:cNvPr id="4" name="直接箭头连接符 3"/>
          <p:cNvCxnSpPr>
            <a:stCxn id="3" idx="6"/>
          </p:cNvCxnSpPr>
          <p:nvPr/>
        </p:nvCxnSpPr>
        <p:spPr>
          <a:xfrm>
            <a:off x="8937625" y="5583238"/>
            <a:ext cx="615950" cy="6350"/>
          </a:xfrm>
          <a:prstGeom prst="straightConnector1">
            <a:avLst/>
          </a:prstGeom>
          <a:ln w="349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220" name="文本框 4"/>
          <p:cNvSpPr txBox="1"/>
          <p:nvPr/>
        </p:nvSpPr>
        <p:spPr>
          <a:xfrm>
            <a:off x="9553575" y="5399088"/>
            <a:ext cx="21780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查询到的候选人物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5280" y="1885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</a:pPr>
            <a:r>
              <a:rPr lang="zh-CN" altLang="en-US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ReID演示系统：列出候选人物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830" y="27384"/>
            <a:ext cx="45656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椭圆 4"/>
          <p:cNvSpPr/>
          <p:nvPr/>
        </p:nvSpPr>
        <p:spPr>
          <a:xfrm>
            <a:off x="4053730" y="4310459"/>
            <a:ext cx="706438" cy="981075"/>
          </a:xfrm>
          <a:prstGeom prst="ellipse">
            <a:avLst/>
          </a:prstGeom>
          <a:solidFill>
            <a:schemeClr val="accent1">
              <a:alpha val="0"/>
            </a:schemeClr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cxnSp>
        <p:nvCxnSpPr>
          <p:cNvPr id="6" name="直接箭头连接符 5"/>
          <p:cNvCxnSpPr>
            <a:stCxn id="5" idx="6"/>
          </p:cNvCxnSpPr>
          <p:nvPr/>
        </p:nvCxnSpPr>
        <p:spPr>
          <a:xfrm>
            <a:off x="4760168" y="4800997"/>
            <a:ext cx="2354263" cy="0"/>
          </a:xfrm>
          <a:prstGeom prst="straightConnector1">
            <a:avLst/>
          </a:prstGeom>
          <a:ln w="349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244" name="文本框 6"/>
          <p:cNvSpPr txBox="1"/>
          <p:nvPr/>
        </p:nvSpPr>
        <p:spPr>
          <a:xfrm>
            <a:off x="7282705" y="4478734"/>
            <a:ext cx="2125663" cy="644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查询到的候选人物</a:t>
            </a:r>
            <a:br>
              <a:rPr lang="zh-CN" altLang="en-US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zh-CN" altLang="en-US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在地图中的位置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5360" y="287734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ReID演示系统：地图展示候选人物轨迹</a:t>
            </a:r>
            <a:endParaRPr lang="zh-CN" altLang="en-US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400750" y="2204864"/>
            <a:ext cx="437469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/>
            <a:r>
              <a:rPr lang="zh-CN" altLang="en-US" sz="1600" b="0" i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oogle Sans Text"/>
                <a:ea typeface="Google Sans Text"/>
              </a:rPr>
              <a:t>通过单应性矩阵变换，将视频像素坐标精准映射至二维物理地图，实现轨迹可视化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5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26987"/>
            <a:ext cx="9366250" cy="688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椭圆 4"/>
          <p:cNvSpPr/>
          <p:nvPr/>
        </p:nvSpPr>
        <p:spPr>
          <a:xfrm>
            <a:off x="2171700" y="1370013"/>
            <a:ext cx="641350" cy="1087438"/>
          </a:xfrm>
          <a:prstGeom prst="ellipse">
            <a:avLst/>
          </a:prstGeom>
          <a:solidFill>
            <a:schemeClr val="accent1">
              <a:alpha val="0"/>
            </a:schemeClr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cxnSp>
        <p:nvCxnSpPr>
          <p:cNvPr id="6" name="直接箭头连接符 5"/>
          <p:cNvCxnSpPr>
            <a:stCxn id="5" idx="6"/>
            <a:endCxn id="11268" idx="1"/>
          </p:cNvCxnSpPr>
          <p:nvPr/>
        </p:nvCxnSpPr>
        <p:spPr>
          <a:xfrm flipV="1">
            <a:off x="2813050" y="1885975"/>
            <a:ext cx="6883400" cy="27757"/>
          </a:xfrm>
          <a:prstGeom prst="straightConnector1">
            <a:avLst/>
          </a:prstGeom>
          <a:ln w="349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268" name="文本框 6"/>
          <p:cNvSpPr txBox="1"/>
          <p:nvPr/>
        </p:nvSpPr>
        <p:spPr>
          <a:xfrm>
            <a:off x="9696450" y="1628800"/>
            <a:ext cx="1968500" cy="5143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/>
          <a:lstStyle/>
          <a:p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想要查询的人物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1135" y="11684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</a:pPr>
            <a:r>
              <a:rPr lang="zh-CN" altLang="en-US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ReID演示系统：选择查询人物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9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26987"/>
            <a:ext cx="9366250" cy="688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椭圆 4"/>
          <p:cNvSpPr/>
          <p:nvPr/>
        </p:nvSpPr>
        <p:spPr>
          <a:xfrm>
            <a:off x="4387850" y="5013325"/>
            <a:ext cx="1943100" cy="1087438"/>
          </a:xfrm>
          <a:prstGeom prst="ellipse">
            <a:avLst/>
          </a:prstGeom>
          <a:solidFill>
            <a:schemeClr val="accent1">
              <a:alpha val="0"/>
            </a:schemeClr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cxnSp>
        <p:nvCxnSpPr>
          <p:cNvPr id="6" name="直接箭头连接符 5"/>
          <p:cNvCxnSpPr>
            <a:stCxn id="5" idx="6"/>
            <a:endCxn id="12292" idx="1"/>
          </p:cNvCxnSpPr>
          <p:nvPr/>
        </p:nvCxnSpPr>
        <p:spPr>
          <a:xfrm>
            <a:off x="6330950" y="5556250"/>
            <a:ext cx="3149600" cy="74613"/>
          </a:xfrm>
          <a:prstGeom prst="straightConnector1">
            <a:avLst/>
          </a:prstGeom>
          <a:ln w="349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292" name="文本框 6"/>
          <p:cNvSpPr txBox="1"/>
          <p:nvPr/>
        </p:nvSpPr>
        <p:spPr>
          <a:xfrm>
            <a:off x="9480550" y="5373688"/>
            <a:ext cx="2398713" cy="514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lstStyle/>
          <a:p>
            <a:r>
              <a:rPr lang="zh-CN" altLang="en-US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若仅依赖</a:t>
            </a:r>
            <a:r>
              <a:rPr lang="en-US" altLang="zh-CN">
                <a:latin typeface="Arial" panose="020B0604020202020204" pitchFamily="34" charset="0"/>
                <a:ea typeface="+mn-ea"/>
              </a:rPr>
              <a:t>reid</a:t>
            </a:r>
            <a:r>
              <a:rPr lang="zh-CN" altLang="en-US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得分，则出现两个错误匹配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2890" y="260985"/>
            <a:ext cx="54254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基于时空约束的轨迹纠错算法初步验证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3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0"/>
            <a:ext cx="4546600" cy="6827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椭圆 4"/>
          <p:cNvSpPr/>
          <p:nvPr/>
        </p:nvSpPr>
        <p:spPr>
          <a:xfrm>
            <a:off x="1501775" y="4068763"/>
            <a:ext cx="822325" cy="1219200"/>
          </a:xfrm>
          <a:prstGeom prst="ellipse">
            <a:avLst/>
          </a:prstGeom>
          <a:solidFill>
            <a:schemeClr val="accent1">
              <a:alpha val="0"/>
            </a:schemeClr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13315" name="文本框 6"/>
          <p:cNvSpPr txBox="1"/>
          <p:nvPr/>
        </p:nvSpPr>
        <p:spPr>
          <a:xfrm>
            <a:off x="4872038" y="5589588"/>
            <a:ext cx="3557587" cy="644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候选人物轨迹中，出现离群点，可据此识别错误匹配。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H="1">
            <a:off x="1919288" y="4859338"/>
            <a:ext cx="6350" cy="9461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1925638" y="5819775"/>
            <a:ext cx="2919413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62890" y="260985"/>
            <a:ext cx="54254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基于时空约束的轨迹纠错算法初步验证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305</Words>
  <Application>Microsoft Office PowerPoint</Application>
  <PresentationFormat>宽屏</PresentationFormat>
  <Paragraphs>28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Google Sans Text</vt:lpstr>
      <vt:lpstr>Inter</vt:lpstr>
      <vt:lpstr>Arial</vt:lpstr>
      <vt:lpstr>Times New Roman</vt:lpstr>
      <vt:lpstr>默认设计模板</vt:lpstr>
      <vt:lpstr>1_默认设计模板</vt:lpstr>
      <vt:lpstr>基于ReID的跨境追踪演示系统 近期进展</vt:lpstr>
      <vt:lpstr>ReID演示系统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基于ReID的跨境追踪演示系统 近期进展</dc:title>
  <dc:creator/>
  <cp:lastModifiedBy>admin</cp:lastModifiedBy>
  <cp:revision>111</cp:revision>
  <dcterms:created xsi:type="dcterms:W3CDTF">2025-07-19T01:22:00Z</dcterms:created>
  <dcterms:modified xsi:type="dcterms:W3CDTF">2025-07-22T00:35:38Z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A63B328537A94EB8A0E84211B53171C5_12</vt:lpwstr>
  </property>
  <property fmtid="{D5CDD505-2E9C-101B-9397-08002B2CF9AE}" pid="3" name="KSOProductBuildVer">
    <vt:lpwstr>2052-12.1.0.21915</vt:lpwstr>
  </property>
</Properties>
</file>